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3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9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大家好，今天我将向大家汇报我的研究——基于知识图谱与超图推理的创新创业教学智能体研究。本研究旨在构建一个可解释、可追溯、可干预的创业能力建模系统，以应对当前双创教育中的一些挑战。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研究背景。当前，双创教育正经历深刻的结构转型，从过去的经验型指导，转向更加系统化的能力培养。项目教学法成为主流，评价体系也从关注最终结果转向关注过程中的能力发展。同时，数字教育和AI技术的发展为我们提供了新的工具，但现有的大模型虽然擅长内容生成，却在结构化诊断方面存在明显不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现有大模型在创业辅导中存在结构性的不足。它们可以帮我们写商业计划书、给一些建议、模拟问答，但它们无法对创业项目的逻辑结构进行一致性校验，不能自动识别风险模式，给出的建议也缺乏可追溯的证据链，更无法提供真正可执行的下一步任务。这说明，我们需要的不是一个更会聊天的机器人，而是一个真正具备创业逻辑推理能力的教学认知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不足直接导致了教学实践中的诸多痛点。对学生而言，他们常常把未经验证的想法当作事实，市场规模的计算口径混乱，整个商业计划缺乏证据链支撑。对教师而言，批改大量项目报告的负担沉重，不同教师间的评价标准不一，缺乏统一的评价量规。对管理者而言，各个项目之间难以进行横向比较，教学的整体效果也难以量化评估。这些问题的核心，可以归结为两点：创业项目的逻辑不可诊断，以及教学评价的过程不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和痛点，本研究的核心问题也就明确了：我们如何构建一个可解释、可追溯、可干预的创新创业教学智能体？为了解决这个核心问题，我们进一步拆解为三个子问题：第一，如何科学地建模创业能力的结构？第二，如何利用超图这种数学工具来准确表达商业逻辑的闭环关系？第三，如何构建一个由证据链严格约束的、公正的评价机制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围绕这三个子问题，我们设定了三个具体的研究目标：首先，构建一个创业能力的结构化模型；其次，开发一个基于超图的一致性推理机制；最后，建立一个由证据链驱动的评价量规体系。通过实现这三个目标，我们最终希望达成“结构化诊断、可追溯评价和可执行任务”这一综合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设计了这样一个系统总体技术架构。它自下而上分为五层：数据层、知识图谱层、超图规则层、多智能体层和应用层。整个系统的设计遵循三条核心约束原则：诊断过程必须由明确的规则驱动，所有结论都必须有强证据链支持，以及为学生生成的下一步任务必须是最小化、可执行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知识图谱层，我们进行了精心的设计。我们定义了七类核心节点，包括概念、方法、产物、指标、评价条目、错误和证据。同时，我们定义了五种主要的关系类型，如先决条件、被评价、常见错误等。通过这样的设计，我们能够将零散的课程知识，系统性地映射到具体的评价条目上，为后续的诊断和评价奠定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超图推理机制。与只能表达二元关系的普通图不同，超图能够表达多元的、复杂的闭环约束关系。例如，一个创业项目的价值循环（Problem-Solution-Revenue-Cost）就是一个典型的多元闭环。我们的模型正是利用超图的这一特性，从可达性、定价、单位经济和合规性等多个维度，对创业逻辑的一致性进行校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超图模型，我们构建了一个包含15条核心规则的一致性规则引擎。这里展示其中三条作为代表：比如H1“渠道不可达”，当系统发现产品无法通过所述渠道触达用户时会触发，并建议修复渠道策略；H4“TAM口径混乱”，用于检查市场规模计算的规范性；以及H8“单位经济不成立”，用于评估商业模式的基本盈利能力。每条规则都定义了明确的触发条件和对应的修复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那么，这个智能体（我们称之为Project Coach）是如何工作的呢？它的工作流程是这样的：首先，系统读取学生提交的材料，从中抽取关键信息节点；然后，利用规则引擎进行诊断，触发相关规则；接着，系统会锁定项目的核心瓶颈问题；最后，生成一个具体的、可执行的下一步任务。整个输出结构清晰地展示了当前的诊断结果、使用的证据、问题的影响以及下一步该做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为了解决评价不可追溯的问题，我们设计了Evidence Trace可追溯评价机制。系统在处理学生材料或对话后，会进行节点抽取和规则诊断，然后基于评价量规给出评分，并将每一项评分都与具体的证据挂载在一起。这一机制遵循三个原则：所有评分都必须有证据支持，给出的建议必须明确指出缺失了哪些证据，并且整个过程都支持教师进行复核，确保评价的公正性和透明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教师而言，这个系统的价值在于提供决策支持和教学干预。系统可以为教师生成数据洞察，比如学生对知识的覆盖率、最常见的错误模式以及需要重点关注的高风险项目名单。基于这些洞察，系统还能进一步生成教学干预建议，例如针对共性问题的集体辅导方案，或是针对个性问题的一对一指导建议。这帮助教师从繁重的“批改作业”工作中解放出来，转向更高价值的“学情洞察”和精准教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介绍本研究的创新点。首先在理论层面，我们的创新主要体现在三个方面：一是构建了创业能力的映射模型；二是首次将超图理论引入创业逻辑的一致性建模；三是将传统的风险模式描述，提升为可计算的结构化表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在技术层面，我们的创新包括：实现了知识图谱与超图推理的深度融合；设计了一套可解释的规则驱动诊断引擎；并采用了多智能体架构来协同完成各项核心功能。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教育评价层面，我们的创新在于构建了一条从“创业能力”到“可计算”、“可比较”再到“可干预”的完整链路。这使得学生能够获得结构化的诊断反馈和明确的改进路径，而教师则能获得量化的学情数据和精准的教学干预建议，从而推动双创教育评价体系的革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研究落地，我们规划了四个阶段的实施路径：第一阶段，完成知识图谱的Schema设计和初始图谱构建；第二阶段，构建核心的规则引擎；第三阶段，集成多智能体，实现系统的完整功能；最后，在第四阶段，将系统投入真实的教学场景进行试点，并根据反馈进行迭代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本研究的预期成果。我们期望产出一套理论框架、一个系统原型和一套评价工具。总而言之，本研究的最终目的，是构建一个具备创业逻辑推理能力的教学认知系统，从而推动我国的双创教育，真正从传统的经验驱动模式，迈向更加科学、高效的结构化智能驱动模式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14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0.svg"/><Relationship Id="rId17" Type="http://schemas.openxmlformats.org/officeDocument/2006/relationships/image" Target="../media/image29.png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22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tags" Target="../tags/tag3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38.svg"/><Relationship Id="rId25" Type="http://schemas.openxmlformats.org/officeDocument/2006/relationships/image" Target="../media/image37.png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36.svg"/><Relationship Id="rId20" Type="http://schemas.openxmlformats.org/officeDocument/2006/relationships/image" Target="../media/image3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34.svg"/><Relationship Id="rId12" Type="http://schemas.openxmlformats.org/officeDocument/2006/relationships/image" Target="../media/image3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52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8.svg"/><Relationship Id="rId17" Type="http://schemas.openxmlformats.org/officeDocument/2006/relationships/image" Target="../media/image67.png"/><Relationship Id="rId16" Type="http://schemas.openxmlformats.org/officeDocument/2006/relationships/image" Target="../media/image66.svg"/><Relationship Id="rId15" Type="http://schemas.openxmlformats.org/officeDocument/2006/relationships/image" Target="../media/image65.png"/><Relationship Id="rId14" Type="http://schemas.openxmlformats.org/officeDocument/2006/relationships/image" Target="../media/image64.svg"/><Relationship Id="rId13" Type="http://schemas.openxmlformats.org/officeDocument/2006/relationships/image" Target="../media/image63.png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96.svg"/><Relationship Id="rId3" Type="http://schemas.openxmlformats.org/officeDocument/2006/relationships/image" Target="../media/image69.png"/><Relationship Id="rId29" Type="http://schemas.openxmlformats.org/officeDocument/2006/relationships/image" Target="../media/image95.png"/><Relationship Id="rId28" Type="http://schemas.openxmlformats.org/officeDocument/2006/relationships/image" Target="../media/image94.svg"/><Relationship Id="rId27" Type="http://schemas.openxmlformats.org/officeDocument/2006/relationships/image" Target="../media/image93.png"/><Relationship Id="rId26" Type="http://schemas.openxmlformats.org/officeDocument/2006/relationships/image" Target="../media/image92.svg"/><Relationship Id="rId25" Type="http://schemas.openxmlformats.org/officeDocument/2006/relationships/image" Target="../media/image91.png"/><Relationship Id="rId24" Type="http://schemas.openxmlformats.org/officeDocument/2006/relationships/image" Target="../media/image90.svg"/><Relationship Id="rId23" Type="http://schemas.openxmlformats.org/officeDocument/2006/relationships/image" Target="../media/image89.png"/><Relationship Id="rId22" Type="http://schemas.openxmlformats.org/officeDocument/2006/relationships/image" Target="../media/image88.svg"/><Relationship Id="rId21" Type="http://schemas.openxmlformats.org/officeDocument/2006/relationships/image" Target="../media/image87.png"/><Relationship Id="rId20" Type="http://schemas.openxmlformats.org/officeDocument/2006/relationships/image" Target="../media/image86.svg"/><Relationship Id="rId2" Type="http://schemas.openxmlformats.org/officeDocument/2006/relationships/image" Target="../media/image46.svg"/><Relationship Id="rId19" Type="http://schemas.openxmlformats.org/officeDocument/2006/relationships/image" Target="../media/image85.png"/><Relationship Id="rId18" Type="http://schemas.openxmlformats.org/officeDocument/2006/relationships/image" Target="../media/image84.svg"/><Relationship Id="rId17" Type="http://schemas.openxmlformats.org/officeDocument/2006/relationships/image" Target="../media/image83.png"/><Relationship Id="rId16" Type="http://schemas.openxmlformats.org/officeDocument/2006/relationships/image" Target="../media/image82.svg"/><Relationship Id="rId15" Type="http://schemas.openxmlformats.org/officeDocument/2006/relationships/image" Target="../media/image81.png"/><Relationship Id="rId14" Type="http://schemas.openxmlformats.org/officeDocument/2006/relationships/image" Target="../media/image80.svg"/><Relationship Id="rId13" Type="http://schemas.openxmlformats.org/officeDocument/2006/relationships/image" Target="../media/image79.png"/><Relationship Id="rId12" Type="http://schemas.openxmlformats.org/officeDocument/2006/relationships/image" Target="../media/image78.svg"/><Relationship Id="rId11" Type="http://schemas.openxmlformats.org/officeDocument/2006/relationships/image" Target="../media/image77.png"/><Relationship Id="rId10" Type="http://schemas.openxmlformats.org/officeDocument/2006/relationships/image" Target="../media/image76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" Type="http://schemas.openxmlformats.org/officeDocument/2006/relationships/image" Target="../media/image56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png"/><Relationship Id="rId8" Type="http://schemas.openxmlformats.org/officeDocument/2006/relationships/image" Target="../media/image108.svg"/><Relationship Id="rId7" Type="http://schemas.openxmlformats.org/officeDocument/2006/relationships/image" Target="../media/image107.png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svg"/><Relationship Id="rId3" Type="http://schemas.openxmlformats.org/officeDocument/2006/relationships/image" Target="../media/image103.png"/><Relationship Id="rId2" Type="http://schemas.openxmlformats.org/officeDocument/2006/relationships/image" Target="../media/image102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0.svg"/><Relationship Id="rId1" Type="http://schemas.openxmlformats.org/officeDocument/2006/relationships/image" Target="../media/image10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12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24.svg"/><Relationship Id="rId17" Type="http://schemas.openxmlformats.org/officeDocument/2006/relationships/image" Target="../media/image123.png"/><Relationship Id="rId16" Type="http://schemas.openxmlformats.org/officeDocument/2006/relationships/image" Target="../media/image122.svg"/><Relationship Id="rId15" Type="http://schemas.openxmlformats.org/officeDocument/2006/relationships/image" Target="../media/image121.png"/><Relationship Id="rId14" Type="http://schemas.openxmlformats.org/officeDocument/2006/relationships/image" Target="../media/image120.svg"/><Relationship Id="rId13" Type="http://schemas.openxmlformats.org/officeDocument/2006/relationships/image" Target="../media/image119.png"/><Relationship Id="rId12" Type="http://schemas.openxmlformats.org/officeDocument/2006/relationships/image" Target="../media/image118.svg"/><Relationship Id="rId11" Type="http://schemas.openxmlformats.org/officeDocument/2006/relationships/image" Target="../media/image117.png"/><Relationship Id="rId10" Type="http://schemas.openxmlformats.org/officeDocument/2006/relationships/image" Target="../media/image116.svg"/><Relationship Id="rId1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12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38.svg"/><Relationship Id="rId17" Type="http://schemas.openxmlformats.org/officeDocument/2006/relationships/image" Target="../media/image137.png"/><Relationship Id="rId16" Type="http://schemas.openxmlformats.org/officeDocument/2006/relationships/image" Target="../media/image38.svg"/><Relationship Id="rId15" Type="http://schemas.openxmlformats.org/officeDocument/2006/relationships/image" Target="../media/image37.png"/><Relationship Id="rId14" Type="http://schemas.openxmlformats.org/officeDocument/2006/relationships/image" Target="../media/image136.svg"/><Relationship Id="rId13" Type="http://schemas.openxmlformats.org/officeDocument/2006/relationships/image" Target="../media/image135.png"/><Relationship Id="rId12" Type="http://schemas.openxmlformats.org/officeDocument/2006/relationships/image" Target="../media/image134.svg"/><Relationship Id="rId11" Type="http://schemas.openxmlformats.org/officeDocument/2006/relationships/image" Target="../media/image133.png"/><Relationship Id="rId10" Type="http://schemas.openxmlformats.org/officeDocument/2006/relationships/image" Target="../media/image132.svg"/><Relationship Id="rId1" Type="http://schemas.openxmlformats.org/officeDocument/2006/relationships/image" Target="../media/image12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2.svg"/><Relationship Id="rId3" Type="http://schemas.openxmlformats.org/officeDocument/2006/relationships/image" Target="../media/image141.png"/><Relationship Id="rId2" Type="http://schemas.openxmlformats.org/officeDocument/2006/relationships/image" Target="../media/image140.svg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6.svg"/><Relationship Id="rId11" Type="http://schemas.openxmlformats.org/officeDocument/2006/relationships/image" Target="../media/image145.png"/><Relationship Id="rId10" Type="http://schemas.openxmlformats.org/officeDocument/2006/relationships/image" Target="../media/image32.svg"/><Relationship Id="rId1" Type="http://schemas.openxmlformats.org/officeDocument/2006/relationships/image" Target="../media/image1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8.svg"/><Relationship Id="rId5" Type="http://schemas.openxmlformats.org/officeDocument/2006/relationships/image" Target="../media/image147.png"/><Relationship Id="rId4" Type="http://schemas.openxmlformats.org/officeDocument/2006/relationships/image" Target="../media/image130.svg"/><Relationship Id="rId3" Type="http://schemas.openxmlformats.org/officeDocument/2006/relationships/image" Target="../media/image129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svg"/><Relationship Id="rId7" Type="http://schemas.openxmlformats.org/officeDocument/2006/relationships/image" Target="../media/image153.png"/><Relationship Id="rId6" Type="http://schemas.openxmlformats.org/officeDocument/2006/relationships/image" Target="../media/image152.svg"/><Relationship Id="rId5" Type="http://schemas.openxmlformats.org/officeDocument/2006/relationships/image" Target="../media/image151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150.sv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158.svg"/><Relationship Id="rId11" Type="http://schemas.openxmlformats.org/officeDocument/2006/relationships/image" Target="../media/image157.png"/><Relationship Id="rId10" Type="http://schemas.openxmlformats.org/officeDocument/2006/relationships/image" Target="../media/image156.svg"/><Relationship Id="rId1" Type="http://schemas.openxmlformats.org/officeDocument/2006/relationships/image" Target="../media/image14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2.svg"/><Relationship Id="rId7" Type="http://schemas.openxmlformats.org/officeDocument/2006/relationships/image" Target="../media/image1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160.svg"/><Relationship Id="rId3" Type="http://schemas.openxmlformats.org/officeDocument/2006/relationships/image" Target="../media/image159.png"/><Relationship Id="rId2" Type="http://schemas.openxmlformats.org/officeDocument/2006/relationships/image" Target="../media/image56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image" Target="../media/image164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24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AccentBlock"/>
          <p:cNvSpPr/>
          <p:nvPr/>
        </p:nvSpPr>
        <p:spPr>
          <a:xfrm>
            <a:off x="762000" y="533400"/>
            <a:ext cx="900000" cy="1200000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850000" y="700000"/>
            <a:ext cx="8800000" cy="15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基于知识图谱与超图推理的</a:t>
            </a:r>
            <a:endParaRPr lang="zh-CN" sz="2800"/>
          </a:p>
          <a:p>
            <a:pPr algn="l">
              <a:lnSpc>
                <a:spcPct val="115000"/>
              </a:lnSpc>
            </a:pPr>
            <a:r>
              <a:rPr lang="zh-CN" sz="2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创新创业教学智能体</a:t>
            </a:r>
            <a:endParaRPr lang="zh-CN" sz="2800"/>
          </a:p>
        </p:txBody>
      </p:sp>
      <p:sp>
        <p:nvSpPr>
          <p:cNvPr id="6" name="Subtitle"/>
          <p:cNvSpPr txBox="1"/>
          <p:nvPr/>
        </p:nvSpPr>
        <p:spPr>
          <a:xfrm>
            <a:off x="1850000" y="2250000"/>
            <a:ext cx="6500000" cy="9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7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第一次迭代汇报</a:t>
            </a:r>
            <a:endParaRPr lang="zh-CN" sz="1700"/>
          </a:p>
          <a:p>
            <a:pPr algn="l">
              <a:lnSpc>
                <a:spcPct val="115000"/>
              </a:lnSpc>
            </a:pPr>
            <a:r>
              <a:rPr lang="zh-CN" sz="17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从研究方案走向可运行原型</a:t>
            </a:r>
            <a:endParaRPr lang="zh-CN" sz="1700"/>
          </a:p>
        </p:txBody>
      </p:sp>
      <p:sp>
        <p:nvSpPr>
          <p:cNvPr id="7" name="MetaLeft"/>
          <p:cNvSpPr txBox="1"/>
          <p:nvPr/>
        </p:nvSpPr>
        <p:spPr>
          <a:xfrm>
            <a:off x="762000" y="3600000"/>
            <a:ext cx="42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成员：杨尚昕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高文宇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组名：Deepsleep</a:t>
            </a:r>
            <a:endParaRPr lang="zh-CN" sz="1500"/>
          </a:p>
        </p:txBody>
      </p:sp>
      <p:sp>
        <p:nvSpPr>
          <p:cNvPr id="8" name="MetaRight"/>
          <p:cNvSpPr txBox="1"/>
          <p:nvPr/>
        </p:nvSpPr>
        <p:spPr>
          <a:xfrm>
            <a:off x="5700000" y="3600000"/>
            <a:ext cx="4950000" cy="17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关键词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MVP闭环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 Trace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OCR ingest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Streamlit / API / CLI</a:t>
            </a:r>
            <a:endParaRPr lang="zh-CN" sz="1500"/>
          </a:p>
        </p:txBody>
      </p:sp>
      <p:sp>
        <p:nvSpPr>
          <p:cNvPr id="9" name="Footer"/>
          <p:cNvSpPr txBox="1"/>
          <p:nvPr/>
        </p:nvSpPr>
        <p:spPr>
          <a:xfrm>
            <a:off x="762000" y="5900000"/>
            <a:ext cx="10500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第一次迭代汇报  |  MVP / OCR / Evidence Trace / Teacher Dashboard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第一次迭代的定位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从“研究设计”切到“原型验证”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上一版PPT重点回答为什么做、理论如何建模、系统应如何分层。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这一次汇报重点回答第一次迭代究竟落下了什么，以及是否已经跑通闭环。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判断标准不是功能是否完美，而是是否已经具备演示、调试、继续扩展的基础。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本次核心问题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做了什么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是否跑通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离研究目标还差什么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第一次迭代目标与边界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先打通 happy path，再增强知识图谱与超图推理深度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统一使用 DeepSeek OpenAI-compatible 接口作为 LLM 接入层。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学生端必须形成四段式输出：Diagnosis / Evidence / Impact / Next Task。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OCR 作为一等公民接入，保证案例 PDF 后续可被检索引用。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教师端先做简版聚合，不追求复杂可视化，只保证数据能汇总。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Done Definition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CLI 可跑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API 可调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UI 可演示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最小测试通过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当前已实现的原型架构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从输入到反馈形成单条可解释流水线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项目文本输入 -&gt; ProjectExtractor 抽取结构化字段与 evidence。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RuleEngine 执行 H1 / H4 / H8 / H11，返回带证据的规则结果。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RubricScorer 结合规则与字段完整度输出 R1~R5。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CaseStore 从 OCR 案例库检索证据，ProjectCoachPipeline 汇总并只给一个 Next Task。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技术栈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Python 3.11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FastAPI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Streamlit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PyMuPDF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本地向量索引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已完成的核心模块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一迭代不是概念验证，而是一个可运行的软件骨架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DeepSeek 客户端封装：支持标准 chat 调用与 JSON 解析重试。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核心数据模型：ProjectState / EvidenceItem / RuleResult / CoachOutput。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OCR ingest：PDF -&gt; pages.jsonl -&gt; chunks.jsonl -&gt; index。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Demo 入口齐备：CLI、FastAPI、Streamlit 三套入口已经接通。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实际代码落点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src/core/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src/app/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src/ui/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scripts/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tests/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学生端闭环已经跑通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输入项目描述后，系统会收敛成一个单点瓶颈任务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先抽取项目字段，再触发规则，再完成 Rubric 评分。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系统不会给一串散乱建议，而是按 severity/status 排序只保留一个 Next Task。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输出结果带 evidence_used，确保教师和学生都能追溯判断依据。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结果会自动存档为 JSON，便于后续做教师看板和班级聚合。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Current Diagnosis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Evidence Used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Impact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Next Task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OCR 与案例证据链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把案例 PDF 纳入诊断链条，是这次原型的重要增量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OCR 支持 auto 选择：DeepSeek-OCR -&gt; Tesseract -&gt; pdf_text fallback。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批量 ingest 后会产出 pages.jsonl 与 chunks.jsonl，并建立本地 index。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案例证据可回写为 [case: doc_id p.page_no] "quote" 的格式。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这使系统从只看学生输入，扩展为可以参考案例库的半 RAG 模式。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流程已打通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接口已预留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证据格式已统一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真实案例库仍待补充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规则与评价的最小可用集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先用 4 条高价值规则验证机制，再扩到全量规则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已实现 H1 客户-价值-渠道、H4 TAM/SAM/SOM、H8 单位经济、H11 合规风险。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规则配置使用 YAML + checker，新增规则不需要重写整套框架。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Rubric 评分目前覆盖 R1~R5，优先体现结构诊断与风险准备度。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这一步验证的是“规则可计算、评价可解释、任务可收敛”。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H1~H15 全量规则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正式超图求解器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课程知识图谱挂接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样例输出：护苗AI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当前系统已经能给出结构化判断，而不是泛泛建议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项目主题涉及中学生心理健康筛查，具备明显的敏感数据与合规风险。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系统识别出 H8 fail：LTV/CAC = 2.00，单位经济不足。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系统同时识别 H11 high_risk：涉及学生与心理健康，但未提供合规说明。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最终只保留一个动作：先重算 LTV 与 CAC，并给出明确验收标准。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样例分数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R1 = 4/5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R3 = 4/5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R4 = 2/5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R5 = 1/5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教师端与演示前端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第一次迭代已经不是纯后端脚本，而是可演示系统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教师看板可读取归档结果，聚合 Top rule、high-risk 项目与字段缺失热区。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Streamlit 前端覆盖三类场景：项目诊断、案例 OCR、教师看板。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FastAPI 暴露 /chat/project_coach、/cases/ingest、/dashboard/teacher。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这让后续教学试点不必从命令行起步，进入门槛已经明显降低。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三种入口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CLI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FastAPI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Streamlit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本轮验证结果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重点不是性能指标，而是系统闭环是否成立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最小测试集已通过 5 项，覆盖规则、OCR ingest、pipeline smoke。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CLI happy path 已跑通，能够输出 diagnosis / evidence / next task。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项目归档 JSON 已生成，说明从输入到结果存档路径成立。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Streamlit UI 已接上核心 pipeline，说明前后端集成成本可控。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验证结论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可运行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可演示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可测试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可继续扩展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lang="zh-CN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与开题方案的对应关系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一迭代不是完整实现，但每一层都已有最小映射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知识图谱层：当前先用 ontology.yaml 和规则字段结构替代完整 KG。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超图规则层：当前以规则引擎近似，优先验证结构约束是否有效。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 Agent 层：当前以单 pipeline 编排代替，避免早期过度复杂化。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评价与证据链：这一层已经真实落地，是最接近研究目标的部分。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策略判断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先闭环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后增强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先证明价值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再做复杂推理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lang="zh-C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当前不足与差距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系统已具备原型价值，但离研究目标还有明确距离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尚未接入真实规模的案例 PDF 库，因此 OCR/RAG 的教学价值还缺少充分样本。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DeepSeek API 的真实在线调用路径已封装，但缺少稳定联网环境下的端到端实测。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所谓“超图推理”当前主要表现为规则校验，还没有形成正式的超图计算框架。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教师端聚合逻辑已存在，但归档样本数过少，尚不足以支撑教学研究结论。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本质问题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数据不够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规则不够全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推理不够深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试点尚未开始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lang="zh-CN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第一次迭代的实际收获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最重要的不是“做了多少”，而是明确了系统真正该怎么长出来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明确了证据链和单任务反馈，是系统价值感最强的两个输出。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证明了 OCR、规则、Rubric、任务生成可以收束成同一条流水线。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把原本抽象的研究问题转成了代码结构、接口和测试边界。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为后续做 KG、超图、多 Agent 留下了稳定的承载骨架。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0 到 1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可讲清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可跑通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可维护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可扩展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lang="zh-C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第二次迭代目标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下一阶段要从“原型成立”进入“能力增强”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补齐真实 DeepSeek API / OCR 服务实测，完成在线路径验证。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扩充案例 PDF 数据，真正让检索证据进入学生端反馈。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 4 条规则扩展到 H1~H15，并引入更明确的超图闭环表达。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把教师看板从 JSON 聚合推进到更适合试点使用的分析界面。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优先级排序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1. 数据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2. 推理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3. 评价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4. 试点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lang="zh-CN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建议的二迭代排期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按“先补数据、再补推理、最后进试点”推进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1 周：接真实案例 PDF、完成 ingest 批处理与索引整理。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2 周：补规则集、引入更清晰的超图一致性表达。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3 周：接通在线 DeepSeek 调用并修正 prompt / evidence 输出。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4 周：准备试点班级演示材料，收集教师反馈与真实样本。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数据可用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规则更强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反馈更稳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开始试点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lang="zh-CN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目前最需要的资源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第二次迭代能否起量，取决于数据和试点条件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课程案例 PDF、往年项目材料、评分样例，用于建立 OCR 案例库。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教师对 Rubric 的校准意见，用于修正规则优先级和评分逻辑。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可用的 OCR 服务环境或 GPU 资源，用于验证扫描件场景。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真实班级或课程试点场景，用于评估系统是否真正提升教学效率。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资源类型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教学数据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教师反馈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算力环境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试点场景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lang="zh-CN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4" name="Tag"/>
          <p:cNvSpPr txBox="1"/>
          <p:nvPr/>
        </p:nvSpPr>
        <p:spPr>
          <a:xfrm>
            <a:off x="762000" y="330000"/>
            <a:ext cx="1900000" cy="3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ITERATION</a:t>
            </a:r>
            <a:endParaRPr lang="zh-CN" sz="1000"/>
          </a:p>
        </p:txBody>
      </p:sp>
      <p:sp>
        <p:nvSpPr>
          <p:cNvPr id="5" name="Title"/>
          <p:cNvSpPr txBox="1"/>
          <p:nvPr/>
        </p:nvSpPr>
        <p:spPr>
          <a:xfrm>
            <a:off x="762000" y="650000"/>
            <a:ext cx="8500000" cy="60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第一次迭代结论</a:t>
            </a:r>
            <a:endParaRPr lang="zh-CN" sz="2500"/>
          </a:p>
        </p:txBody>
      </p:sp>
      <p:sp>
        <p:nvSpPr>
          <p:cNvPr id="6" name="Subtitle"/>
          <p:cNvSpPr txBox="1"/>
          <p:nvPr/>
        </p:nvSpPr>
        <p:spPr>
          <a:xfrm>
            <a:off x="762000" y="1220000"/>
            <a:ext cx="8500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系统已经从研究构想进入“可运行原型”阶段</a:t>
            </a:r>
            <a:endParaRPr lang="zh-CN" sz="1300"/>
          </a:p>
        </p:txBody>
      </p:sp>
      <p:sp>
        <p:nvSpPr>
          <p:cNvPr id="7" name="Main"/>
          <p:cNvSpPr txBox="1"/>
          <p:nvPr/>
        </p:nvSpPr>
        <p:spPr>
          <a:xfrm>
            <a:off x="762000" y="1850000"/>
            <a:ext cx="6700000" cy="3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我们已经完成第一次迭代最关键的任务：把研究方案收敛成一个能运行、能解释、能继续长大的 MVP。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当前原型已经具备项目诊断、证据链输出、唯一 Next Task、OCR ingest、教师简版聚合和前端演示能力。</a:t>
            </a:r>
            <a:endParaRPr lang="zh-CN" sz="1600"/>
          </a:p>
          <a:p>
            <a:pPr marL="177800" indent="-177800" algn="l">
              <a:lnSpc>
                <a:spcPct val="115000"/>
              </a:lnSpc>
              <a:buClr>
                <a:srgbClr val="334155"/>
              </a:buClr>
              <a:buChar char="•"/>
            </a:pPr>
            <a:r>
              <a:rPr lang="zh-CN"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接下来真正需要做的不是重写框架，而是补数据、补推理深度、进入试点验证。</a:t>
            </a:r>
            <a:endParaRPr lang="zh-CN" sz="1600"/>
          </a:p>
        </p:txBody>
      </p:sp>
      <p:sp>
        <p:nvSpPr>
          <p:cNvPr id="8" name="Side"/>
          <p:cNvSpPr txBox="1"/>
          <p:nvPr/>
        </p:nvSpPr>
        <p:spPr>
          <a:xfrm>
            <a:off x="7900000" y="1850000"/>
            <a:ext cx="3300000" cy="3900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99F6E4">
                <a:alpha val="30000"/>
              </a:srgbClr>
            </a:solidFill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  <a:endParaRPr lang="zh-CN" sz="16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先把闭环跑通</a:t>
            </a:r>
            <a:endParaRPr lang="zh-CN" sz="1400"/>
          </a:p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34E4A"/>
                </a:solidFill>
                <a:latin typeface="Microsoft YaHei"/>
                <a:ea typeface="Microsoft YaHei"/>
                <a:cs typeface="Microsoft YaHei"/>
              </a:rPr>
              <a:t>再把结构做深</a:t>
            </a:r>
            <a:endParaRPr lang="zh-CN" sz="1400"/>
          </a:p>
        </p:txBody>
      </p:sp>
      <p:sp>
        <p:nvSpPr>
          <p:cNvPr id="9" name="FooterLine"/>
          <p:cNvSpPr/>
          <p:nvPr/>
        </p:nvSpPr>
        <p:spPr>
          <a:xfrm>
            <a:off x="762000" y="6070000"/>
            <a:ext cx="10500000" cy="25000"/>
          </a:xfrm>
          <a:prstGeom prst="rect">
            <a:avLst/>
          </a:prstGeom>
          <a:solidFill>
            <a:srgbClr val="CBD5E1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10" name="Footer"/>
          <p:cNvSpPr txBox="1"/>
          <p:nvPr/>
        </p:nvSpPr>
        <p:spPr>
          <a:xfrm>
            <a:off x="762000" y="6170000"/>
            <a:ext cx="25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l">
              <a:lnSpc>
                <a:spcPct val="115000"/>
              </a:lnSpc>
            </a:pPr>
            <a:r>
              <a:rPr lang="zh-CN"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研究主题：创新创业教学智能体第一次迭代</a:t>
            </a:r>
            <a:endParaRPr lang="zh-CN" sz="1000"/>
          </a:p>
        </p:txBody>
      </p:sp>
      <p:sp>
        <p:nvSpPr>
          <p:cNvPr id="11" name="Page"/>
          <p:cNvSpPr txBox="1"/>
          <p:nvPr/>
        </p:nvSpPr>
        <p:spPr>
          <a:xfrm>
            <a:off x="10600000" y="6170000"/>
            <a:ext cx="6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lIns="95250" tIns="95250" rIns="95250" bIns="95250"/>
          <a:lstStyle/>
          <a:p>
            <a:pPr algn="r">
              <a:lnSpc>
                <a:spcPct val="115000"/>
              </a:lnSpc>
            </a:pPr>
            <a:r>
              <a:rPr lang="zh-CN" sz="10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lang="zh-CN" sz="1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WPS 演示</Application>
  <PresentationFormat/>
  <Paragraphs>367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楷体</vt:lpstr>
      <vt:lpstr>Times New Roman</vt:lpstr>
      <vt:lpstr>微软雅黑</vt:lpstr>
      <vt:lpstr>华文中宋</vt:lpstr>
      <vt:lpstr>华文楷体</vt:lpstr>
      <vt:lpstr>仿宋</vt:lpstr>
      <vt:lpstr>华文宋体</vt:lpstr>
      <vt:lpstr>汉仪仿宋简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Lins</cp:lastModifiedBy>
  <cp:revision>2</cp:revision>
  <dcterms:created xsi:type="dcterms:W3CDTF">2026-03-02T15:48:06Z</dcterms:created>
  <dcterms:modified xsi:type="dcterms:W3CDTF">2026-03-02T15:50:19Z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8D658ADDC04349DDAFA276528B58D7D3_12</vt:lpwstr>
  </property>
</Properties>
</file>