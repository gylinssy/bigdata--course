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3"/>
  </p:handout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9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9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大家好，今天我将向大家汇报我的研究——基于知识图谱与超图推理的创新创业教学智能体研究。本研究旨在构建一个可解释、可追溯、可干预的创业能力建模系统，以应对当前双创教育中的一些挑战。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研究背景。当前，双创教育正经历深刻的结构转型，从过去的经验型指导，转向更加系统化的能力培养。项目教学法成为主流，评价体系也从关注最终结果转向关注过程中的能力发展。同时，数字教育和AI技术的发展为我们提供了新的工具，但现有的大模型虽然擅长内容生成，却在结构化诊断方面存在明显不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现有大模型在创业辅导中存在结构性的不足。它们可以帮我们写商业计划书、给一些建议、模拟问答，但它们无法对创业项目的逻辑结构进行一致性校验，不能自动识别风险模式，给出的建议也缺乏可追溯的证据链，更无法提供真正可执行的下一步任务。这说明，我们需要的不是一个更会聊天的机器人，而是一个真正具备创业逻辑推理能力的教学认知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不足直接导致了教学实践中的诸多痛点。对学生而言，他们常常把未经验证的想法当作事实，市场规模的计算口径混乱，整个商业计划缺乏证据链支撑。对教师而言，批改大量项目报告的负担沉重，不同教师间的评价标准不一，缺乏统一的评价量规。对管理者而言，各个项目之间难以进行横向比较，教学的整体效果也难以量化评估。这些问题的核心，可以归结为两点：创业项目的逻辑不可诊断，以及教学评价的过程不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和痛点，本研究的核心问题也就明确了：我们如何构建一个可解释、可追溯、可干预的创新创业教学智能体？为了解决这个核心问题，我们进一步拆解为三个子问题：第一，如何科学地建模创业能力的结构？第二，如何利用超图这种数学工具来准确表达商业逻辑的闭环关系？第三，如何构建一个由证据链严格约束的、公正的评价机制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围绕这三个子问题，我们设定了三个具体的研究目标：首先，构建一个创业能力的结构化模型；其次，开发一个基于超图的一致性推理机制；最后，建立一个由证据链驱动的评价量规体系。通过实现这三个目标，我们最终希望达成“结构化诊断、可追溯评价和可执行任务”这一综合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上述目标，我们设计了这样一个系统总体技术架构。它自下而上分为五层：数据层、知识图谱层、超图规则层、多智能体层和应用层。整个系统的设计遵循三条核心约束原则：诊断过程必须由明确的规则驱动，所有结论都必须有强证据链支持，以及为学生生成的下一步任务必须是最小化、可执行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知识图谱层，我们进行了精心的设计。我们定义了七类核心节点，包括概念、方法、产物、指标、评价条目、错误和证据。同时，我们定义了五种主要的关系类型，如先决条件、被评价、常见错误等。通过这样的设计，我们能够将零散的课程知识，系统性地映射到具体的评价条目上，为后续的诊断和评价奠定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超图推理机制。与只能表达二元关系的普通图不同，超图能够表达多元的、复杂的闭环约束关系。例如，一个创业项目的价值循环（Problem-Solution-Revenue-Cost）就是一个典型的多元闭环。我们的模型正是利用超图的这一特性，从可达性、定价、单位经济和合规性等多个维度，对创业逻辑的一致性进行校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超图模型，我们构建了一个包含15条核心规则的一致性规则引擎。这里展示其中三条作为代表：比如H1“渠道不可达”，当系统发现产品无法通过所述渠道触达用户时会触发，并建议修复渠道策略；H4“TAM口径混乱”，用于检查市场规模计算的规范性；以及H8“单位经济不成立”，用于评估商业模式的基本盈利能力。每条规则都定义了明确的触发条件和对应的修复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那么，这个智能体（我们称之为Project Coach）是如何工作的呢？它的工作流程是这样的：首先，系统读取学生提交的材料，从中抽取关键信息节点；然后，利用规则引擎进行诊断，触发相关规则；接着，系统会锁定项目的核心瓶颈问题；最后，生成一个具体的、可执行的下一步任务。整个输出结构清晰地展示了当前的诊断结果、使用的证据、问题的影响以及下一步该做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为了解决评价不可追溯的问题，我们设计了Evidence Trace可追溯评价机制。系统在处理学生材料或对话后，会进行节点抽取和规则诊断，然后基于评价量规给出评分，并将每一项评分都与具体的证据挂载在一起。这一机制遵循三个原则：所有评分都必须有证据支持，给出的建议必须明确指出缺失了哪些证据，并且整个过程都支持教师进行复核，确保评价的公正性和透明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教师而言，这个系统的价值在于提供决策支持和教学干预。系统可以为教师生成数据洞察，比如学生对知识的覆盖率、最常见的错误模式以及需要重点关注的高风险项目名单。基于这些洞察，系统还能进一步生成教学干预建议，例如针对共性问题的集体辅导方案，或是针对个性问题的一对一指导建议。这帮助教师从繁重的“批改作业”工作中解放出来，转向更高价值的“学情洞察”和精准教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介绍本研究的创新点。首先在理论层面，我们的创新主要体现在三个方面：一是构建了创业能力的映射模型；二是首次将超图理论引入创业逻辑的一致性建模；三是将传统的风险模式描述，提升为可计算的结构化表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在技术层面，我们的创新包括：实现了知识图谱与超图推理的深度融合；设计了一套可解释的规则驱动诊断引擎；并采用了多智能体架构来协同完成各项核心功能。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教育评价层面，我们的创新在于构建了一条从“创业能力”到“可计算”、“可比较”再到“可干预”的完整链路。这使得学生能够获得结构化的诊断反馈和明确的改进路径，而教师则能获得量化的学情数据和精准的教学干预建议，从而推动双创教育评价体系的革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将研究落地，我们规划了四个阶段的实施路径：第一阶段，完成知识图谱的Schema设计和初始图谱构建；第二阶段，构建核心的规则引擎；第三阶段，集成多智能体，实现系统的完整功能；最后，在第四阶段，将系统投入真实的教学场景进行试点，并根据反馈进行迭代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总结一下本研究的预期成果。我们期望产出一套理论框架、一个系统原型和一套评价工具。总而言之，本研究的最终目的，是构建一个具备创业逻辑推理能力的教学认知系统，从而推动我国的双创教育，真正从传统的经验驱动模式，迈向更加科学、高效的结构化智能驱动模式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0" Type="http://schemas.openxmlformats.org/officeDocument/2006/relationships/notesSlide" Target="../notesSlides/notesSlide3.xml"/><Relationship Id="rId2" Type="http://schemas.openxmlformats.org/officeDocument/2006/relationships/image" Target="../media/image14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0.svg"/><Relationship Id="rId17" Type="http://schemas.openxmlformats.org/officeDocument/2006/relationships/image" Target="../media/image29.png"/><Relationship Id="rId16" Type="http://schemas.openxmlformats.org/officeDocument/2006/relationships/image" Target="../media/image28.svg"/><Relationship Id="rId15" Type="http://schemas.openxmlformats.org/officeDocument/2006/relationships/image" Target="../media/image27.png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image" Target="../media/image22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tags" Target="../tags/tag3.xml"/><Relationship Id="rId28" Type="http://schemas.openxmlformats.org/officeDocument/2006/relationships/notesSlide" Target="../notesSlides/notesSlide4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38.svg"/><Relationship Id="rId25" Type="http://schemas.openxmlformats.org/officeDocument/2006/relationships/image" Target="../media/image37.png"/><Relationship Id="rId24" Type="http://schemas.openxmlformats.org/officeDocument/2006/relationships/tags" Target="../tags/tag18.xml"/><Relationship Id="rId23" Type="http://schemas.openxmlformats.org/officeDocument/2006/relationships/tags" Target="../tags/tag17.xml"/><Relationship Id="rId22" Type="http://schemas.openxmlformats.org/officeDocument/2006/relationships/tags" Target="../tags/tag16.xml"/><Relationship Id="rId21" Type="http://schemas.openxmlformats.org/officeDocument/2006/relationships/image" Target="../media/image36.svg"/><Relationship Id="rId20" Type="http://schemas.openxmlformats.org/officeDocument/2006/relationships/image" Target="../media/image35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34.svg"/><Relationship Id="rId12" Type="http://schemas.openxmlformats.org/officeDocument/2006/relationships/image" Target="../media/image33.png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58.svg"/><Relationship Id="rId7" Type="http://schemas.openxmlformats.org/officeDocument/2006/relationships/image" Target="../media/image57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0" Type="http://schemas.openxmlformats.org/officeDocument/2006/relationships/notesSlide" Target="../notesSlides/notesSlide7.xml"/><Relationship Id="rId2" Type="http://schemas.openxmlformats.org/officeDocument/2006/relationships/image" Target="../media/image52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8.svg"/><Relationship Id="rId17" Type="http://schemas.openxmlformats.org/officeDocument/2006/relationships/image" Target="../media/image67.png"/><Relationship Id="rId16" Type="http://schemas.openxmlformats.org/officeDocument/2006/relationships/image" Target="../media/image66.svg"/><Relationship Id="rId15" Type="http://schemas.openxmlformats.org/officeDocument/2006/relationships/image" Target="../media/image65.png"/><Relationship Id="rId14" Type="http://schemas.openxmlformats.org/officeDocument/2006/relationships/image" Target="../media/image64.svg"/><Relationship Id="rId13" Type="http://schemas.openxmlformats.org/officeDocument/2006/relationships/image" Target="../media/image63.png"/><Relationship Id="rId12" Type="http://schemas.openxmlformats.org/officeDocument/2006/relationships/image" Target="../media/image62.svg"/><Relationship Id="rId11" Type="http://schemas.openxmlformats.org/officeDocument/2006/relationships/image" Target="../media/image61.png"/><Relationship Id="rId10" Type="http://schemas.openxmlformats.org/officeDocument/2006/relationships/image" Target="../media/image60.svg"/><Relationship Id="rId1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svg"/><Relationship Id="rId7" Type="http://schemas.openxmlformats.org/officeDocument/2006/relationships/image" Target="../media/image73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12.xml"/><Relationship Id="rId30" Type="http://schemas.openxmlformats.org/officeDocument/2006/relationships/image" Target="../media/image96.svg"/><Relationship Id="rId3" Type="http://schemas.openxmlformats.org/officeDocument/2006/relationships/image" Target="../media/image69.png"/><Relationship Id="rId29" Type="http://schemas.openxmlformats.org/officeDocument/2006/relationships/image" Target="../media/image95.png"/><Relationship Id="rId28" Type="http://schemas.openxmlformats.org/officeDocument/2006/relationships/image" Target="../media/image94.svg"/><Relationship Id="rId27" Type="http://schemas.openxmlformats.org/officeDocument/2006/relationships/image" Target="../media/image93.png"/><Relationship Id="rId26" Type="http://schemas.openxmlformats.org/officeDocument/2006/relationships/image" Target="../media/image92.svg"/><Relationship Id="rId25" Type="http://schemas.openxmlformats.org/officeDocument/2006/relationships/image" Target="../media/image91.png"/><Relationship Id="rId24" Type="http://schemas.openxmlformats.org/officeDocument/2006/relationships/image" Target="../media/image90.svg"/><Relationship Id="rId23" Type="http://schemas.openxmlformats.org/officeDocument/2006/relationships/image" Target="../media/image89.png"/><Relationship Id="rId22" Type="http://schemas.openxmlformats.org/officeDocument/2006/relationships/image" Target="../media/image88.svg"/><Relationship Id="rId21" Type="http://schemas.openxmlformats.org/officeDocument/2006/relationships/image" Target="../media/image87.png"/><Relationship Id="rId20" Type="http://schemas.openxmlformats.org/officeDocument/2006/relationships/image" Target="../media/image86.svg"/><Relationship Id="rId2" Type="http://schemas.openxmlformats.org/officeDocument/2006/relationships/image" Target="../media/image46.svg"/><Relationship Id="rId19" Type="http://schemas.openxmlformats.org/officeDocument/2006/relationships/image" Target="../media/image85.png"/><Relationship Id="rId18" Type="http://schemas.openxmlformats.org/officeDocument/2006/relationships/image" Target="../media/image84.svg"/><Relationship Id="rId17" Type="http://schemas.openxmlformats.org/officeDocument/2006/relationships/image" Target="../media/image83.png"/><Relationship Id="rId16" Type="http://schemas.openxmlformats.org/officeDocument/2006/relationships/image" Target="../media/image82.svg"/><Relationship Id="rId15" Type="http://schemas.openxmlformats.org/officeDocument/2006/relationships/image" Target="../media/image81.png"/><Relationship Id="rId14" Type="http://schemas.openxmlformats.org/officeDocument/2006/relationships/image" Target="../media/image80.svg"/><Relationship Id="rId13" Type="http://schemas.openxmlformats.org/officeDocument/2006/relationships/image" Target="../media/image79.png"/><Relationship Id="rId12" Type="http://schemas.openxmlformats.org/officeDocument/2006/relationships/image" Target="../media/image78.svg"/><Relationship Id="rId11" Type="http://schemas.openxmlformats.org/officeDocument/2006/relationships/image" Target="../media/image77.png"/><Relationship Id="rId10" Type="http://schemas.openxmlformats.org/officeDocument/2006/relationships/image" Target="../media/image76.sv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0.svg"/><Relationship Id="rId7" Type="http://schemas.openxmlformats.org/officeDocument/2006/relationships/image" Target="../media/image99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98.svg"/><Relationship Id="rId3" Type="http://schemas.openxmlformats.org/officeDocument/2006/relationships/image" Target="../media/image97.png"/><Relationship Id="rId2" Type="http://schemas.openxmlformats.org/officeDocument/2006/relationships/image" Target="../media/image56.sv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png"/><Relationship Id="rId8" Type="http://schemas.openxmlformats.org/officeDocument/2006/relationships/image" Target="../media/image108.svg"/><Relationship Id="rId7" Type="http://schemas.openxmlformats.org/officeDocument/2006/relationships/image" Target="../media/image107.png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" Type="http://schemas.openxmlformats.org/officeDocument/2006/relationships/image" Target="../media/image104.svg"/><Relationship Id="rId3" Type="http://schemas.openxmlformats.org/officeDocument/2006/relationships/image" Target="../media/image103.png"/><Relationship Id="rId2" Type="http://schemas.openxmlformats.org/officeDocument/2006/relationships/image" Target="../media/image102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10.svg"/><Relationship Id="rId1" Type="http://schemas.openxmlformats.org/officeDocument/2006/relationships/image" Target="../media/image10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png"/><Relationship Id="rId8" Type="http://schemas.openxmlformats.org/officeDocument/2006/relationships/image" Target="../media/image114.svg"/><Relationship Id="rId7" Type="http://schemas.openxmlformats.org/officeDocument/2006/relationships/image" Target="../media/image11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0" Type="http://schemas.openxmlformats.org/officeDocument/2006/relationships/notesSlide" Target="../notesSlides/notesSlide11.xml"/><Relationship Id="rId2" Type="http://schemas.openxmlformats.org/officeDocument/2006/relationships/image" Target="../media/image112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24.svg"/><Relationship Id="rId17" Type="http://schemas.openxmlformats.org/officeDocument/2006/relationships/image" Target="../media/image123.png"/><Relationship Id="rId16" Type="http://schemas.openxmlformats.org/officeDocument/2006/relationships/image" Target="../media/image122.svg"/><Relationship Id="rId15" Type="http://schemas.openxmlformats.org/officeDocument/2006/relationships/image" Target="../media/image121.png"/><Relationship Id="rId14" Type="http://schemas.openxmlformats.org/officeDocument/2006/relationships/image" Target="../media/image120.svg"/><Relationship Id="rId13" Type="http://schemas.openxmlformats.org/officeDocument/2006/relationships/image" Target="../media/image119.png"/><Relationship Id="rId12" Type="http://schemas.openxmlformats.org/officeDocument/2006/relationships/image" Target="../media/image118.svg"/><Relationship Id="rId11" Type="http://schemas.openxmlformats.org/officeDocument/2006/relationships/image" Target="../media/image117.png"/><Relationship Id="rId10" Type="http://schemas.openxmlformats.org/officeDocument/2006/relationships/image" Target="../media/image116.svg"/><Relationship Id="rId1" Type="http://schemas.openxmlformats.org/officeDocument/2006/relationships/image" Target="../media/image1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svg"/><Relationship Id="rId7" Type="http://schemas.openxmlformats.org/officeDocument/2006/relationships/image" Target="../media/image129.png"/><Relationship Id="rId6" Type="http://schemas.openxmlformats.org/officeDocument/2006/relationships/image" Target="../media/image128.svg"/><Relationship Id="rId5" Type="http://schemas.openxmlformats.org/officeDocument/2006/relationships/image" Target="../media/image127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0" Type="http://schemas.openxmlformats.org/officeDocument/2006/relationships/notesSlide" Target="../notesSlides/notesSlide12.xml"/><Relationship Id="rId2" Type="http://schemas.openxmlformats.org/officeDocument/2006/relationships/image" Target="../media/image126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38.svg"/><Relationship Id="rId17" Type="http://schemas.openxmlformats.org/officeDocument/2006/relationships/image" Target="../media/image137.png"/><Relationship Id="rId16" Type="http://schemas.openxmlformats.org/officeDocument/2006/relationships/image" Target="../media/image38.svg"/><Relationship Id="rId15" Type="http://schemas.openxmlformats.org/officeDocument/2006/relationships/image" Target="../media/image37.png"/><Relationship Id="rId14" Type="http://schemas.openxmlformats.org/officeDocument/2006/relationships/image" Target="../media/image136.svg"/><Relationship Id="rId13" Type="http://schemas.openxmlformats.org/officeDocument/2006/relationships/image" Target="../media/image135.png"/><Relationship Id="rId12" Type="http://schemas.openxmlformats.org/officeDocument/2006/relationships/image" Target="../media/image134.svg"/><Relationship Id="rId11" Type="http://schemas.openxmlformats.org/officeDocument/2006/relationships/image" Target="../media/image133.png"/><Relationship Id="rId10" Type="http://schemas.openxmlformats.org/officeDocument/2006/relationships/image" Target="../media/image132.svg"/><Relationship Id="rId1" Type="http://schemas.openxmlformats.org/officeDocument/2006/relationships/image" Target="../media/image12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144.svg"/><Relationship Id="rId5" Type="http://schemas.openxmlformats.org/officeDocument/2006/relationships/image" Target="../media/image143.png"/><Relationship Id="rId4" Type="http://schemas.openxmlformats.org/officeDocument/2006/relationships/image" Target="../media/image142.svg"/><Relationship Id="rId3" Type="http://schemas.openxmlformats.org/officeDocument/2006/relationships/image" Target="../media/image141.png"/><Relationship Id="rId2" Type="http://schemas.openxmlformats.org/officeDocument/2006/relationships/image" Target="../media/image140.svg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46.svg"/><Relationship Id="rId11" Type="http://schemas.openxmlformats.org/officeDocument/2006/relationships/image" Target="../media/image145.png"/><Relationship Id="rId10" Type="http://schemas.openxmlformats.org/officeDocument/2006/relationships/image" Target="../media/image32.svg"/><Relationship Id="rId1" Type="http://schemas.openxmlformats.org/officeDocument/2006/relationships/image" Target="../media/image1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8.svg"/><Relationship Id="rId5" Type="http://schemas.openxmlformats.org/officeDocument/2006/relationships/image" Target="../media/image147.png"/><Relationship Id="rId4" Type="http://schemas.openxmlformats.org/officeDocument/2006/relationships/image" Target="../media/image130.svg"/><Relationship Id="rId3" Type="http://schemas.openxmlformats.org/officeDocument/2006/relationships/image" Target="../media/image129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png"/><Relationship Id="rId8" Type="http://schemas.openxmlformats.org/officeDocument/2006/relationships/image" Target="../media/image154.svg"/><Relationship Id="rId7" Type="http://schemas.openxmlformats.org/officeDocument/2006/relationships/image" Target="../media/image153.png"/><Relationship Id="rId6" Type="http://schemas.openxmlformats.org/officeDocument/2006/relationships/image" Target="../media/image152.svg"/><Relationship Id="rId5" Type="http://schemas.openxmlformats.org/officeDocument/2006/relationships/image" Target="../media/image151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150.sv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image" Target="../media/image158.svg"/><Relationship Id="rId11" Type="http://schemas.openxmlformats.org/officeDocument/2006/relationships/image" Target="../media/image157.png"/><Relationship Id="rId10" Type="http://schemas.openxmlformats.org/officeDocument/2006/relationships/image" Target="../media/image156.svg"/><Relationship Id="rId1" Type="http://schemas.openxmlformats.org/officeDocument/2006/relationships/image" Target="../media/image14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2.svg"/><Relationship Id="rId7" Type="http://schemas.openxmlformats.org/officeDocument/2006/relationships/image" Target="../media/image1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160.svg"/><Relationship Id="rId3" Type="http://schemas.openxmlformats.org/officeDocument/2006/relationships/image" Target="../media/image159.png"/><Relationship Id="rId2" Type="http://schemas.openxmlformats.org/officeDocument/2006/relationships/image" Target="../media/image56.sv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6.svg"/><Relationship Id="rId7" Type="http://schemas.openxmlformats.org/officeDocument/2006/relationships/image" Target="../media/image165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148.svg"/><Relationship Id="rId3" Type="http://schemas.openxmlformats.org/officeDocument/2006/relationships/image" Target="../media/image147.png"/><Relationship Id="rId2" Type="http://schemas.openxmlformats.org/officeDocument/2006/relationships/image" Target="../media/image164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1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4"/>
          <p:cNvSpPr/>
          <p:nvPr/>
        </p:nvSpPr>
        <p:spPr>
          <a:xfrm>
            <a:off x="1097280" y="4937760"/>
            <a:ext cx="56692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成员：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杨尚昕</a:t>
            </a:r>
            <a:r>
              <a:rPr lang="en-US" altLang="zh-CN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2000" b="1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高文宇</a:t>
            </a:r>
            <a:endParaRPr lang="zh-CN" altLang="en-US" sz="20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组名：</a:t>
            </a:r>
            <a:r>
              <a:rPr lang="en-US" sz="20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Deepsleep</a:t>
            </a:r>
            <a:endParaRPr lang="en-US" sz="2000" b="1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时间：__________</a:t>
            </a:r>
            <a:endParaRPr lang="en-US" sz="2000" b="1" dirty="0">
              <a:solidFill>
                <a:srgbClr val="1A1A1A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7498080" y="4480560"/>
            <a:ext cx="4206240" cy="169164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E6EEF7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6"/>
          <p:cNvSpPr/>
          <p:nvPr/>
        </p:nvSpPr>
        <p:spPr>
          <a:xfrm>
            <a:off x="7818120" y="467487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楷体" panose="02010609060101010101" charset="-122"/>
                <a:ea typeface="楷体" panose="02010609060101010101" charset="-122"/>
                <a:cs typeface="微软雅黑" panose="020B0503020204020204" pitchFamily="34" charset="-120"/>
              </a:rPr>
              <a:t>关键词</a:t>
            </a:r>
            <a:endParaRPr lang="en-US" sz="2000" b="1" dirty="0">
              <a:solidFill>
                <a:srgbClr val="1F4E79"/>
              </a:solidFill>
              <a:latin typeface="楷体" panose="02010609060101010101" charset="-122"/>
              <a:ea typeface="楷体" panose="02010609060101010101" charset="-122"/>
              <a:cs typeface="微软雅黑" panose="020B0503020204020204" pitchFamily="34" charset="-120"/>
            </a:endParaRPr>
          </a:p>
        </p:txBody>
      </p:sp>
      <p:sp>
        <p:nvSpPr>
          <p:cNvPr id="19" name="Text 7"/>
          <p:cNvSpPr/>
          <p:nvPr/>
        </p:nvSpPr>
        <p:spPr>
          <a:xfrm>
            <a:off x="7818120" y="5100320"/>
            <a:ext cx="35661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Knowledge Graph  ·  Hypergraph</a:t>
            </a:r>
            <a:endParaRPr lang="en-US" sz="1600" b="1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Multi-Agent  ·  Evidence Trace</a:t>
            </a:r>
            <a:endParaRPr lang="en-US" sz="1600" b="1" dirty="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LangGraph  ·  Rubric</a:t>
            </a:r>
            <a:endParaRPr lang="en-US" sz="1600" b="1" dirty="0">
              <a:solidFill>
                <a:srgbClr val="1A1A1A"/>
              </a:solidFill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20" name="Text 1"/>
          <p:cNvSpPr/>
          <p:nvPr/>
        </p:nvSpPr>
        <p:spPr>
          <a:xfrm>
            <a:off x="822960" y="1826895"/>
            <a:ext cx="107899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fontAlgn="auto">
              <a:lnSpc>
                <a:spcPts val="6040"/>
              </a:lnSpc>
              <a:buNone/>
            </a:pP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0"/>
              </a:rPr>
              <a:t>基于知识图谱与超图推理的</a:t>
            </a:r>
            <a:endParaRPr lang="en-US" sz="4400" b="1" dirty="0">
              <a:solidFill>
                <a:schemeClr val="accent5">
                  <a:lumMod val="7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indent="0" fontAlgn="auto">
              <a:lnSpc>
                <a:spcPts val="6040"/>
              </a:lnSpc>
              <a:buNone/>
            </a:pP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微软雅黑" panose="020B0503020204020204" pitchFamily="34" charset="-120"/>
              </a:rPr>
              <a:t>创新创业教学智能体研究</a:t>
            </a:r>
            <a:endParaRPr lang="en-US" sz="4400" b="1" dirty="0">
              <a:solidFill>
                <a:schemeClr val="accent5">
                  <a:lumMod val="7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研究背景：从经验型指导走向结构化能力培养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50000"/>
            </a:srgbClr>
          </a:solidFill>
          <a:ln cap="flat" cmpd="sng">
            <a:solidFill>
              <a:srgbClr val="C4CCD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教育模式与评价体系转型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660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94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双创教育进入“能力导向”阶段，项目教学成为主流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评价体系从结果导向转向过程能力导向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50000"/>
            </a:srgbClr>
          </a:solidFill>
          <a:ln cap="flat" cmpd="sng">
            <a:solidFill>
              <a:srgbClr val="C4CCD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438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数字教育与AI技术现状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549">
            <a:off x="1016009" y="4819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16000" y="4953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数字教育与AI智能体快速发展，提供新工具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现有大模型具备生成能力，但缺乏结构诊断能力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032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349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22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阶段一：经验驱动 (Experience Driven)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603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依赖导师个人经验，缺乏标准化，难以大规模复制。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500" y="3238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23000" y="3556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3873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3746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阶段二：过程驱动 (Process Driven)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4127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关注项目全流程，注重过程记录与反馈，评价体系开始完善。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500" y="4762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223000" y="5080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53975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5270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阶段三：能力结构驱动 (Structure Driven)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5651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基于能力模型的结构化培养，结合AI进行精准诊断与提升。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现有大模型创业辅导的结构性不足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143500" cy="2921000"/>
          </a:xfrm>
          <a:prstGeom prst="roundRect">
            <a:avLst>
              <a:gd name="adj" fmla="val 4347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3368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311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现有大模型可以做到的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629">
            <a:off x="1066809" y="27876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3048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022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生成商业计划书，提供标准化文档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3429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403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提供通用性的创业建议与模拟问答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2032000"/>
            <a:ext cx="5143500" cy="2921000"/>
          </a:xfrm>
          <a:prstGeom prst="roundRect">
            <a:avLst>
              <a:gd name="adj" fmla="val 4347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91300" y="2336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2311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91C1C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但无法实现的核心能力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629">
            <a:off x="6591309" y="2787650"/>
            <a:ext cx="453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ECA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1300" y="3048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022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无法进行创业项目的逻辑结构一致性校验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1300" y="3429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3403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不能自动识别潜在的风险模式与漏洞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1300" y="3810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784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缺乏建议背后的可追溯证据链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91300" y="41910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1656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F1D1D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无法提供真正可执行的下一步任务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EF444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6000" y="5511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39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我们需要的不是“更会聊天的机器人”，而是</a:t>
            </a:r>
            <a:r>
              <a:rPr lang="en-US" sz="1800" b="1" i="0" u="none" strike="noStrike">
                <a:solidFill>
                  <a:srgbClr val="EF4444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具备创业逻辑推理能力的教学认知系统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现实痛点分析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1955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74800" y="19558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学生视角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7"/>
            </p:custDataLst>
          </p:nvPr>
        </p:nvCxnSpPr>
        <p:spPr>
          <a:xfrm rot="-16215">
            <a:off x="1066815" y="24828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1066800" y="2667000"/>
            <a:ext cx="2692400" cy="1414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 eaLnBrk="1" fontAlgn="t" latinLnBrk="0" hangingPunct="1">
              <a:lnSpc>
                <a:spcPct val="14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把未经验证的想法当作事实</a:t>
            </a:r>
            <a:endParaRPr lang="en-US" sz="1100"/>
          </a:p>
          <a:p>
            <a:pPr marL="177800" indent="-177800" algn="l" eaLnBrk="1" latinLnBrk="0" hangingPunct="1">
              <a:lnSpc>
                <a:spcPct val="14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市场规模计算口径混乱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 eaLnBrk="1" latinLnBrk="0" hangingPunct="1">
              <a:lnSpc>
                <a:spcPct val="14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商业计划缺乏证据链支撑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445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49800" y="19558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5257800" y="19558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教师视角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5"/>
            </p:custDataLst>
          </p:nvPr>
        </p:nvCxnSpPr>
        <p:spPr>
          <a:xfrm rot="-16215">
            <a:off x="4749815" y="24828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4749800" y="2667000"/>
            <a:ext cx="2692400" cy="13887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3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批改大量报告负担沉重</a:t>
            </a:r>
            <a:endParaRPr lang="en-US" sz="1100"/>
          </a:p>
          <a:p>
            <a:pPr marL="177800" indent="-177800" algn="l">
              <a:lnSpc>
                <a:spcPct val="15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不同教师间评价标准不一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>
              <a:lnSpc>
                <a:spcPct val="13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缺乏统一的评价量规(Rubric)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128000" y="1651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32800" y="1955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2"/>
            </p:custDataLst>
          </p:nvPr>
        </p:nvSpPr>
        <p:spPr>
          <a:xfrm>
            <a:off x="8940800" y="19558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管理者视角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23"/>
            </p:custDataLst>
          </p:nvPr>
        </p:nvCxnSpPr>
        <p:spPr>
          <a:xfrm rot="-16215">
            <a:off x="8432815" y="2482850"/>
            <a:ext cx="2692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24"/>
            </p:custDataLst>
          </p:nvPr>
        </p:nvSpPr>
        <p:spPr>
          <a:xfrm>
            <a:off x="8432800" y="2667000"/>
            <a:ext cx="2692400" cy="1379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45000"/>
              </a:lnSpc>
              <a:buClr>
                <a:srgbClr val="4B5563"/>
              </a:buClr>
              <a:buChar char="•"/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各项目间难以横向比较</a:t>
            </a:r>
            <a:endParaRPr lang="en-US" sz="1100"/>
          </a:p>
          <a:p>
            <a:pPr marL="177800" indent="-177800" algn="l">
              <a:lnSpc>
                <a:spcPct val="14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教学整体效果难以量化评估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  <a:p>
            <a:pPr marL="177800" indent="-177800" algn="l">
              <a:lnSpc>
                <a:spcPct val="145000"/>
              </a:lnSpc>
              <a:buClr>
                <a:srgbClr val="4B5563"/>
              </a:buClr>
              <a:buChar char="•"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缺乏数据支撑的决策依据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66800" y="57023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702300"/>
            <a:ext cx="965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核心问题：创业项目的逻辑不可诊断，教学评价的过程不可追溯。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核心研究问题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1835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如何构建一个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24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可解释、可追溯、可干预的创新创业教学智能体？</a:t>
            </a:r>
            <a:endParaRPr lang="en-US" sz="2400" b="1" i="0" u="none" strike="noStrike">
              <a:solidFill>
                <a:srgbClr val="00000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270000" y="3556000"/>
            <a:ext cx="3048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3810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4318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01. 能力结构建模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如何科学地解构与量化创业能力的内在结构？</a:t>
            </a:r>
            <a:endParaRPr lang="en-US" sz="13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2000" y="3556000"/>
            <a:ext cx="3048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000" y="3810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826000" y="4318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02. 商业逻辑表达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如何利用超图表达复杂的商业逻辑闭环关系？</a:t>
            </a:r>
            <a:endParaRPr lang="en-US" sz="13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874000" y="3556000"/>
            <a:ext cx="3048000" cy="2032000"/>
          </a:xfrm>
          <a:prstGeom prst="roundRect">
            <a:avLst>
              <a:gd name="adj" fmla="val 625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3810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128000" y="4318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03. 评价机制构建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如何建立基于证据链约束的公正评价体系？</a:t>
            </a:r>
            <a:endParaRPr lang="en-US" sz="1300" b="0" i="0" u="none" strike="noStrike">
              <a:solidFill>
                <a:srgbClr val="6B7280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研究目标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23368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4384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66800" y="3098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构建创业能力结构化模型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556000"/>
            <a:ext cx="269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明确创业能力的构成要素与层级关系，建立标准化的能力框架体系。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749800" y="23368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400" y="24384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49800" y="3098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构建超图一致性推理机制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49800" y="3556000"/>
            <a:ext cx="269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利用超图结构处理复杂关联数据，实现多维度信息的一致性校验与推理。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432800" y="2336800"/>
            <a:ext cx="609600" cy="609600"/>
          </a:xfrm>
          <a:prstGeom prst="ellipse">
            <a:avLst/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0" y="24384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432800" y="3098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构建证据链驱动的评价体系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32800" y="3556000"/>
            <a:ext cx="269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基于Rubric量规工具，结合证据链追踪，确保评价过程的客观性与可追溯性。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6800" y="55118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600200" y="54610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核心愿景：实现“</a:t>
            </a:r>
            <a:r>
              <a:rPr lang="en-US" sz="1600" b="1" i="0" u="none" strike="noStrike">
                <a:solidFill>
                  <a:srgbClr val="2563E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结构化诊断 + 可追溯评价 + 可执行任务</a:t>
            </a:r>
            <a:r>
              <a:rPr lang="en-US" sz="1600" b="0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”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系统总体技术架构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1778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2286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762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数据层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7000" y="26035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175000" y="2032000"/>
            <a:ext cx="1778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6500" y="2286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175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知识图谱层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000" y="2603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2032000"/>
            <a:ext cx="1778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9500" y="2286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588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超图规则层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93000" y="26035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001000" y="2032000"/>
            <a:ext cx="1778000" cy="1524000"/>
          </a:xfrm>
          <a:prstGeom prst="roundRect">
            <a:avLst>
              <a:gd name="adj" fmla="val 8333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72500" y="2286000"/>
            <a:ext cx="635000" cy="635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001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多Agent层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6000" y="26035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414000" y="2032000"/>
            <a:ext cx="1016000" cy="1524000"/>
          </a:xfrm>
          <a:prstGeom prst="roundRect">
            <a:avLst>
              <a:gd name="adj" fmla="val 1250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04500" y="2286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414000" y="2984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应用层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092">
            <a:off x="762004" y="405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62000" y="4445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270000" y="444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规则驱动诊断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270000" y="4826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诊断过程由明确的规则驱动，确保逻辑严谨，避免主观臆断。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72000" y="44450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080000" y="4445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证据链强约束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080000" y="4826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所有结论必须有强证据链支持，确保每一步推理都有据可依。</a:t>
            </a:r>
            <a:endParaRPr lang="en-US" sz="1100"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2000" y="44450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8900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下一步任务最小化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890000" y="48260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生成的任务必须是最小化、可执行的，降低用户认知负荷。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知识图谱建模设计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937000"/>
          </a:xfrm>
          <a:prstGeom prst="roundRect">
            <a:avLst>
              <a:gd name="adj" fmla="val 322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25000"/>
              </a:lnSpc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526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727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核心节点类型 (Nodes)</a:t>
            </a:r>
            <a:endParaRPr lang="en-US" sz="1800" b="1" i="0" u="none" strike="noStrike">
              <a:solidFill>
                <a:srgbClr val="1E3A8A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2152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11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Concept (概念)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基础知识点定义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730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692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Method (方法)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具体操作步骤与流程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111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073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Artifact (产物)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作业提交物或输出结果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492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454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Metric (指标)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量化评估的标准维度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3873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3835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RubricItem (评价条目)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评分细则项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254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216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Mistake (错误)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常见的易错点记录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4635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597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Evidence (证据)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支撑结论的具体依据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096000" y="1524000"/>
            <a:ext cx="5080000" cy="3937000"/>
          </a:xfrm>
          <a:prstGeom prst="roundRect">
            <a:avLst>
              <a:gd name="adj" fmla="val 322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25000"/>
              </a:lnSpc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0" y="1752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731000" y="1727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核心关系类型 (Relationships)</a:t>
            </a:r>
            <a:endParaRPr lang="en-US" sz="1800" b="1" i="0" u="none" strike="noStrike">
              <a:solidFill>
                <a:srgbClr val="1E3A8A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-9549">
            <a:off x="6350009" y="2152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50000" y="23495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731000" y="2311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PREREQ (先决条件)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学习前需掌握的前置知识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50000" y="27305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731000" y="26924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EVALUATED_BY (被...评价)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指向对应的评分标准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50000" y="3244215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731000" y="31877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COMMON_MISTAKE (常见错误)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关联典型的错误案例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50000" y="375793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6731000" y="36830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FIX_STRATEGY (修复策略)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针对错误的改进建议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50000" y="40640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731000" y="404495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SUPPORTS (支持) </a:t>
            </a:r>
            <a:r>
              <a:rPr lang="en-US" sz="1400" b="0" i="0" u="none" strike="noStrike">
                <a:solidFill>
                  <a:srgbClr val="33415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- 提供佐证或参考资料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762000" y="5651500"/>
            <a:ext cx="10414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lnSpc>
                <a:spcPct val="125000"/>
              </a:lnSpc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16000" y="5842000"/>
            <a:ext cx="355600" cy="3556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524000" y="5778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设计目标：</a:t>
            </a:r>
            <a:r>
              <a:rPr lang="en-US" sz="1600" b="0" i="0" u="none" strike="noStrike">
                <a:solidFill>
                  <a:srgbClr val="1E3A8A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实现从“课程知识”到“评价条目”的结构映射，构建可解释的评价体系。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创业逻辑一致性超图模型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传统普通图模型</a:t>
            </a:r>
            <a:endParaRPr 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5626">
            <a:off x="1016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7305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B82F6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核心局限：二元关系</a:t>
            </a:r>
            <a:endParaRPr lang="en-US" sz="1000">
              <a:latin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仅能描述两个节点间的简单连接，难以表达复杂的商业逻辑交互。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超图模型：价值循环</a:t>
            </a:r>
            <a:endParaRPr 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5626">
            <a:off x="4699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699000" y="27305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B82F6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多元闭环约束机制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典型应用场景：</a:t>
            </a:r>
            <a:endParaRPr lang="en-US" sz="1200" b="0" i="0" u="none" strike="noStrike">
              <a:solidFill>
                <a:srgbClr val="4B5563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Problem (痛点)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→ Solution (解决方案)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→ Revenue (收入) &amp; Cost (成本)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032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2032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一致性校验维度</a:t>
            </a:r>
            <a:endParaRPr lang="en-US" sz="18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15626">
            <a:off x="8382014" y="2533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8382000" y="27305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B82F6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四维交叉验证</a:t>
            </a:r>
            <a:endParaRPr lang="en-US" sz="1000">
              <a:latin typeface="Times New Roman" panose="02020603050405020304" charset="0"/>
              <a:cs typeface="Times New Roman" panose="02020603050405020304" charset="0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可达性 (Reachability)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定价策略 (Pricing)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单位经济模型 (Unit Economics)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  <a:p>
            <a:pPr marL="152400" indent="-152400" algn="l">
              <a:lnSpc>
                <a:spcPct val="125000"/>
              </a:lnSpc>
              <a:buClr>
                <a:srgbClr val="6B7280"/>
              </a:buClr>
              <a:buChar char="•"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合规性 (Compliance)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3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52705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4B5563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超图模型通过构建多元闭环（Value Loop），打破了传统二元关系的限制，能够更真实地模拟创业逻辑中的复杂交互，确保从商业模式到执行落地的逻辑自洽。</a:t>
            </a:r>
            <a:endParaRPr lang="en-US" b="0" i="0" u="none" strike="noStrike">
              <a:solidFill>
                <a:srgbClr val="4B5563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一致性规则引擎（H1~H15）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76200" cy="1397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25600" y="20574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H1 渠道不可达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2603500"/>
            <a:ext cx="203200" cy="203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71600" y="25654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触发条件：产品无法通过所述渠道触达目标用户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2895600"/>
            <a:ext cx="203200" cy="203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71600" y="28575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修复任务：重新评估渠道策略或调整目标用户画像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4925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492500"/>
            <a:ext cx="76200" cy="1397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200" y="368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25600" y="36449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H4 TAM口径混乱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4191000"/>
            <a:ext cx="203200" cy="203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71600" y="41529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触发条件：市场规模（TAM）的定义和计算方式不符合行业标准或逻辑自洽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4483100"/>
            <a:ext cx="203200" cy="203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71600" y="44450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修复任务：明确市场规模的定义边界，并提供数据来源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76200" cy="1397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2200" y="5270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25600" y="52324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H8 单位经济不成立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00" y="5778500"/>
            <a:ext cx="203200" cy="203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71600" y="57404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触发条件：单个客户的生命周期价值（LTV）小于获取成本（CAC）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6070600"/>
            <a:ext cx="203200" cy="203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71600" y="6032500"/>
            <a:ext cx="965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修复任务：优化定价策略、降低获客成本或提升客户留存率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Project Coach 工作流程</a:t>
            </a:r>
            <a:endParaRPr lang="en-US" sz="3200" b="1" i="0" u="none" strike="noStrike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09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184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学生材料读取与分析</a:t>
            </a:r>
            <a:endParaRPr lang="en-US" sz="16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1800" y="285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32258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036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3782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抽取关键节点 &amp; 规则触发</a:t>
            </a:r>
            <a:endParaRPr lang="en-US" sz="16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1800" y="40513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62000" y="44196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97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720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锁定项目核心瓶颈问题</a:t>
            </a:r>
            <a:endParaRPr lang="en-US" sz="16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1800" y="5245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6134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791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7658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生成可执行的 Next Task</a:t>
            </a:r>
            <a:endParaRPr lang="en-US" sz="1600" b="1" i="0" u="none" strike="noStrike">
              <a:solidFill>
                <a:srgbClr val="1F2937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096000" y="2032000"/>
            <a:ext cx="5334000" cy="4343400"/>
          </a:xfrm>
          <a:prstGeom prst="roundRect">
            <a:avLst>
              <a:gd name="adj" fmla="val 2923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输出结构 (Output Structure)</a:t>
            </a:r>
            <a:endParaRPr lang="en-US" sz="1800" b="1" i="0" u="none" strike="noStrike">
              <a:solidFill>
                <a:srgbClr val="3B82F6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cxnSp>
        <p:nvCxnSpPr>
          <p:cNvPr id="20" name="Connector 20"/>
          <p:cNvCxnSpPr/>
          <p:nvPr/>
        </p:nvCxnSpPr>
        <p:spPr>
          <a:xfrm rot="-9046">
            <a:off x="63500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000" y="2921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31000" y="2895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Current Diagnosis (当前诊断)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基于数据分析的问题定性描述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0000" y="3556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31000" y="3530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Evidence Used (使用的证据)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支撑诊断结论的具体数据与材料片段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0000" y="4191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731000" y="4165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Impact (影响分析)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该问题对项目进度或质量的潜在影响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50000" y="4826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731000" y="4800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Next Task (下一步任务)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华文中宋" panose="02010600040101010101" charset="-122"/>
              </a:rPr>
              <a:t>具体的、可落地的改进建议与行动计划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Evidence Trace 可追溯评价机制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50000"/>
            </a:srgbClr>
          </a:solidFill>
          <a:ln cap="flat" cmpd="sng">
            <a:solidFill>
              <a:srgbClr val="C4CCDD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0500" y="2095500"/>
            <a:ext cx="846455" cy="846455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143000" y="295275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材料/对话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6500" y="22860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4055" y="2148840"/>
            <a:ext cx="762000" cy="762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916555" y="295275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抽取节点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2860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2700" y="2081530"/>
            <a:ext cx="860425" cy="860425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06315" y="295275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规则诊断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2860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9770" y="2040890"/>
            <a:ext cx="869950" cy="86995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31330" y="295275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Rubric评分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0" y="2286000"/>
            <a:ext cx="304800" cy="30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17000" y="2095500"/>
            <a:ext cx="815340" cy="81534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635" y="2952750"/>
            <a:ext cx="139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证据挂载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064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318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评分必须绑定证据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1016014" y="4756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1016000" y="4889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确保每一项评分结果都有据可依，拒绝无证据的主观判断，保障评价的客观性。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94200" y="4064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48200" y="4318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0927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建议指明缺失证据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5211">
            <a:off x="4648214" y="4756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4648200" y="4889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反馈建议必须明确指出具体缺失了哪些关键证据，帮助学生清晰了解改进方向。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26400" y="4064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80400" y="4318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724900" y="4318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支持教师复核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5211">
            <a:off x="8280414" y="4756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280400" y="48895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开放复核入口，允许教师介入审查系统的自动评价逻辑，确保结果的公正性。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教师决策支持与教学干预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数据洞察 Data Insights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9549">
            <a:off x="1016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73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692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知识覆盖率分析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9972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精准统计各知识点掌握情况，可视化展示薄弱环节分布。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5179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Top 错误模式识别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460500" y="38227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自动聚类学生常见错误类型，定位高频失分点与逻辑误区。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343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高风险项目预警名单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460500" y="46482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基于多维数据模型，动态生成需重点关注的学生名单。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1778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教学干预建议 Intervention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6604009" y="2470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73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2692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共性问题：集体辅导方案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48500" y="29972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针对班级普遍存在的知识盲区，自动生成标准化的集体备课教案与讲解思路。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873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3835400"/>
            <a:ext cx="412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个性问题：一对一指导建议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48500" y="4140200"/>
            <a:ext cx="4127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基于个体错误路径，提供差异化的习题推荐和针对性的辅导话术。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2563EB">
              <a:alpha val="10000"/>
            </a:srgbClr>
          </a:solidFill>
          <a:ln w="12700" cap="flat" cmpd="sng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57912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24000" y="5753100"/>
            <a:ext cx="965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核心价值：实现从“单纯批改作业”向深度“学情洞察与精准教学”的转变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创新点（一）理论创新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2336800"/>
            <a:ext cx="609600" cy="6096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4384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创业能力映射模型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34925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提出了从课程知识到评价条目的结构化映射方法，建立了知识与能力的精准对应关系。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749800" y="2336800"/>
            <a:ext cx="609600" cy="6096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400" y="2438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749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超图一致性建模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49800" y="34925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首次将超图理论应用于创业逻辑的一致性建模与校验，解决了复杂关联关系的表达难题。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2032000"/>
            <a:ext cx="3302000" cy="508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432800" y="2336800"/>
            <a:ext cx="609600" cy="609600"/>
          </a:xfrm>
          <a:prstGeom prst="ellipse">
            <a:avLst/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4400" y="24384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432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风险模式结构表达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432800" y="34925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将创业风险模式从经验性描述提升为结构化的、可计算的表达，实现了风险量化分析。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创新点（二）技术创新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3368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66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KG + Hypergraph 融合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6215">
            <a:off x="1066815" y="349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66800" y="36830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实现了知识图谱与超图推理的深度融合，兼顾了知识的表达能力和逻辑的推理能力。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9800" y="23368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749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规则驱动引擎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6215">
            <a:off x="4749815" y="349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4749800" y="36830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设计并实现了一套基于规则的、可解释的诊断引擎，确保决策过程透明可追溯。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3368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32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F172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多Agent协同编排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6215">
            <a:off x="8432815" y="349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7" name="AutoShape 17"/>
          <p:cNvSpPr/>
          <p:nvPr/>
        </p:nvSpPr>
        <p:spPr>
          <a:xfrm>
            <a:off x="8432800" y="3683000"/>
            <a:ext cx="2692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采用多智能体架构，实现了诊断、评价、任务生成等功能的高效协同工作。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创新点（三）教育评价创新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3F4F6">
              <a:alpha val="100000"/>
            </a:srgbClr>
          </a:solidFill>
          <a:ln cap="flat" cmpd="sng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05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540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创业能力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0000" y="2095500"/>
            <a:ext cx="3048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5000" y="1905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48000" y="2540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可计算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95500"/>
            <a:ext cx="304800" cy="304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2540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可比较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095500"/>
            <a:ext cx="304800" cy="304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9000" y="1905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2540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可干预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556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810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学生层面：精准反馈与提升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1016009" y="431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获得结构化的诊断反馈，清晰定位自身优势与不足，系统提供明确的改进路径，实现个性化成长。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556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3810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3810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教师层面：数据驱动教学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291">
            <a:off x="6477009" y="431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获取全维度的量化学情数据，基于数据洞察获得精准的教学干预建议，从而优化教学策略，提升教学质量。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实施路径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7178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阶段一：Schema &amp; KG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设计知识图谱的Schema并构建初始图谱，为智能推理奠定数据基础。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7465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3500" y="27178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7465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阶段二：规则构建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设计并实现一致性规则引擎，确保知识图谱数据的准确性与逻辑严密性。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7178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4770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阶段三：Agent集成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集成多智能体系统，打通各个功能模块，实现端到端的智能交互能力。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953500" y="2286000"/>
            <a:ext cx="2540000" cy="3302000"/>
          </a:xfrm>
          <a:prstGeom prst="roundRect">
            <a:avLst>
              <a:gd name="adj" fmla="val 5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953500" y="2286000"/>
            <a:ext cx="2540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207500" y="2590800"/>
            <a:ext cx="609600" cy="6096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34500" y="27178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207500" y="3302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阶段四：教学试点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207500" y="3746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在真实教学场景中进行试点，收集用户反馈，持续迭代优化系统性能。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预期成果与总结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016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理论成果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238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一套创业能力结构化建模与评价的理论框架，为研究奠定坚实基础。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99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系统原型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238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一个具备创业逻辑推理能力的教学智能体系统原型，实现智能化教学。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382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评价工具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3238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一套可追溯、可比较的双创教育评价工具集，确保教学效果可量化。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572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2563EB">
              <a:alpha val="5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889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826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研究总结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华文中宋" panose="02010600040101010101" charset="-122"/>
              </a:rPr>
              <a:t>本研究旨在构建具备创业逻辑推理能力的教学认知系统，推动双创教育从经验驱动走向结构化智能驱动。</a:t>
            </a:r>
            <a:endParaRPr lang="en-US" sz="1400" b="0" i="0" u="none" strike="noStrike">
              <a:solidFill>
                <a:srgbClr val="4B5563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  <a:sym typeface="华文中宋" panose="0201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2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3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4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5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6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7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8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9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0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1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2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3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4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5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6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7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ags/tag18.xml><?xml version="1.0" encoding="utf-8"?>
<p:tagLst xmlns:p="http://schemas.openxmlformats.org/presentationml/2006/main">
  <p:tag name="KSO_WM_DIAGRAM_VIRTUALLY_FRAME" val="{&quot;height&quot;:383.3,&quot;left&quot;:60,&quot;top&quot;:13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3489</Words>
  <Application>WPS 演示</Application>
  <PresentationFormat/>
  <Paragraphs>367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楷体</vt:lpstr>
      <vt:lpstr>Times New Roman</vt:lpstr>
      <vt:lpstr>微软雅黑</vt:lpstr>
      <vt:lpstr>华文中宋</vt:lpstr>
      <vt:lpstr>华文楷体</vt:lpstr>
      <vt:lpstr>仿宋</vt:lpstr>
      <vt:lpstr>华文宋体</vt:lpstr>
      <vt:lpstr>汉仪仿宋简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Lins</cp:lastModifiedBy>
  <cp:revision>2</cp:revision>
  <dcterms:created xsi:type="dcterms:W3CDTF">2026-03-02T15:48:06Z</dcterms:created>
  <dcterms:modified xsi:type="dcterms:W3CDTF">2026-03-02T15:50:19Z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8D658ADDC04349DDAFA276528B58D7D3_12</vt:lpwstr>
  </property>
</Properties>
</file>