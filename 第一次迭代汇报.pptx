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</p:sldMasterIdLst>
  <p:notesMasterIdLst>
    <p:notesMasterId r:id="rId6"/>
  </p:notesMasterIdLst>
  <p:handoutMasterIdLst>
    <p:handoutMasterId r:id="rId16"/>
  </p:handoutMasterIdLst>
  <p:sldIdLst>
    <p:sldId id="256" r:id="rId5"/>
    <p:sldId id="275" r:id="rId7"/>
    <p:sldId id="274" r:id="rId8"/>
    <p:sldId id="259" r:id="rId9"/>
    <p:sldId id="257" r:id="rId10"/>
    <p:sldId id="258" r:id="rId11"/>
    <p:sldId id="260" r:id="rId12"/>
    <p:sldId id="261" r:id="rId13"/>
    <p:sldId id="272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customXml" Target="../customXml/item6.xml"/><Relationship Id="rId24" Type="http://schemas.openxmlformats.org/officeDocument/2006/relationships/customXml" Target="../customXml/item5.xml"/><Relationship Id="rId23" Type="http://schemas.openxmlformats.org/officeDocument/2006/relationships/customXml" Target="../customXml/item4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大家好，今天我将向大家汇报我的研究——基于知识图谱与超图推理的创新创业教学智能体研究。本研究旨在构建一个可解释、可追溯、可干预的创业能力建模系统，以应对当前双创教育中的一些挑战。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研究落地，我们规划了四个阶段的实施路径：第一阶段，完成知识图谱的Schema设计和初始图谱构建；第二阶段，构建核心的规则引擎；第三阶段，集成多智能体，实现系统的完整功能；最后，在第四阶段，将系统投入真实的教学场景进行试点，并根据反馈进行迭代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不足直接导致了教学实践中的诸多痛点。对学生而言，他们常常把未经验证的想法当作事实，市场规模的计算口径混乱，整个商业计划缺乏证据链支撑。对教师而言，批改大量项目报告的负担沉重，不同教师间的评价标准不一，缺乏统一的评价量规。对管理者而言，各个项目之间难以进行横向比较，教学的整体效果也难以量化评估。这些问题的核心，可以归结为两点：创业项目的逻辑不可诊断，以及教学评价的过程不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研究背景。当前，双创教育正经历深刻的结构转型，从过去的经验型指导，转向更加系统化的能力培养。项目教学法成为主流，评价体系也从关注最终结果转向关注过程中的能力发展。同时，数字教育和AI技术的发展为我们提供了新的工具，但现有的大模型虽然擅长内容生成，却在结构化诊断方面存在明显不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现有大模型在创业辅导中存在结构性的不足。它们可以帮我们写商业计划书、给一些建议、模拟问答，但它们无法对创业项目的逻辑结构进行一致性校验，不能自动识别风险模式，给出的建议也缺乏可追溯的证据链，更无法提供真正可执行的下一步任务。这说明，我们需要的不是一个更会聊天的机器人，而是一个真正具备创业逻辑推理能力的教学认知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和痛点，本研究的核心问题也就明确了：我们如何构建一个可解释、可追溯、可干预的创新创业教学智能体？为了解决这个核心问题，我们进一步拆解为三个子问题：第一，如何科学地建模创业能力的结构？第二，如何利用超图这种数学工具来准确表达商业逻辑的闭环关系？第三，如何构建一个由证据链严格约束的、公正的评价机制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围绕这三个子问题，我们设定了三个具体的研究目标：首先，构建一个创业能力的结构化模型；其次，开发一个基于超图的一致性推理机制；最后，建立一个由证据链驱动的评价量规体系。通过实现这三个目标，我们最终希望达成“结构化诊断、可追溯评价和可执行任务”这一综合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研究落地，我们规划了四个阶段的实施路径：第一阶段，完成知识图谱的Schema设计和初始图谱构建；第二阶段，构建核心的规则引擎；第三阶段，集成多智能体，实现系统的完整功能；最后，在第四阶段，将系统投入真实的教学场景进行试点，并根据反馈进行迭代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F8D0E63-0F6A-47B0-8BD1-6E95B004C872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：形状 6" descr="Tag=AccentColor&#10;Flavor=Light&#10;Target=Fill"/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20XX/9/3</a:t>
            </a:r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演示文稿标题</a:t>
            </a:r>
            <a:endParaRPr lang="zh-CN" altLang="en-US" noProof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C18C1E5-FB55-42F5-BD6D-9CC153FCDBE6}" type="slidenum">
              <a:rPr lang="en-US" altLang="zh-CN" noProof="0" smtClean="0"/>
            </a:fld>
            <a:endParaRPr lang="zh-CN" altLang="en-US" noProof="0"/>
          </a:p>
        </p:txBody>
      </p:sp>
      <p:sp>
        <p:nvSpPr>
          <p:cNvPr id="12" name="长方形 11"/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 rtlCol="0"/>
          <a:lstStyle>
            <a:lvl1pPr algn="ctr">
              <a:buNone/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副标题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：形状 6" descr="Tag=AccentColor&#10;Flavor=Light&#10;Target=Fill"/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 rtlCol="0">
            <a:noAutofit/>
          </a:bodyPr>
          <a:lstStyle>
            <a:lvl1pPr>
              <a:defRPr sz="7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rtlCol="0"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defRPr sz="40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57200">
              <a:defRPr sz="36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二级</a:t>
            </a:r>
            <a:endParaRPr lang="zh-CN" altLang="en-US" noProof="0"/>
          </a:p>
          <a:p>
            <a:pPr lvl="2" rtl="0"/>
            <a:r>
              <a:rPr lang="zh-CN" altLang="en-US" noProof="0"/>
              <a:t>三级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20XX/9/3</a:t>
            </a:r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 rtlCol="0"/>
          <a:lstStyle>
            <a:lvl1pPr algn="l"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演示文稿标题</a:t>
            </a:r>
            <a:endParaRPr lang="zh-CN" altLang="en-US" noProof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C18C1E5-FB55-42F5-BD6D-9CC153FCDBE6}" type="slidenum">
              <a:rPr lang="en-US" altLang="zh-CN" noProof="0" smtClean="0"/>
            </a:fld>
            <a:endParaRPr lang="zh-CN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5" Type="http://schemas.openxmlformats.org/officeDocument/2006/relationships/notesSlide" Target="../notesSlides/notesSlide3.xml"/><Relationship Id="rId34" Type="http://schemas.openxmlformats.org/officeDocument/2006/relationships/slideLayout" Target="../slideLayouts/slideLayout14.xml"/><Relationship Id="rId33" Type="http://schemas.openxmlformats.org/officeDocument/2006/relationships/image" Target="../media/image9.png"/><Relationship Id="rId32" Type="http://schemas.openxmlformats.org/officeDocument/2006/relationships/tags" Target="../tags/tag24.xml"/><Relationship Id="rId31" Type="http://schemas.openxmlformats.org/officeDocument/2006/relationships/tags" Target="../tags/tag23.xml"/><Relationship Id="rId30" Type="http://schemas.openxmlformats.org/officeDocument/2006/relationships/image" Target="../media/image8.svg"/><Relationship Id="rId3" Type="http://schemas.openxmlformats.org/officeDocument/2006/relationships/tags" Target="../tags/tag3.xml"/><Relationship Id="rId29" Type="http://schemas.openxmlformats.org/officeDocument/2006/relationships/image" Target="../media/image7.png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image" Target="../media/image6.svg"/><Relationship Id="rId21" Type="http://schemas.openxmlformats.org/officeDocument/2006/relationships/image" Target="../media/image5.png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4.svg"/><Relationship Id="rId13" Type="http://schemas.openxmlformats.org/officeDocument/2006/relationships/image" Target="../media/image3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tags" Target="../tags/tag27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17.png"/><Relationship Id="rId22" Type="http://schemas.openxmlformats.org/officeDocument/2006/relationships/image" Target="../media/image16.png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6.xml"/><Relationship Id="rId19" Type="http://schemas.openxmlformats.org/officeDocument/2006/relationships/tags" Target="../tags/tag37.xml"/><Relationship Id="rId18" Type="http://schemas.openxmlformats.org/officeDocument/2006/relationships/image" Target="../media/image15.svg"/><Relationship Id="rId17" Type="http://schemas.openxmlformats.org/officeDocument/2006/relationships/image" Target="../media/image14.png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tags" Target="../tags/tag41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tags" Target="../tags/tag4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23.svg"/><Relationship Id="rId19" Type="http://schemas.openxmlformats.org/officeDocument/2006/relationships/image" Target="../media/image40.png"/><Relationship Id="rId18" Type="http://schemas.openxmlformats.org/officeDocument/2006/relationships/image" Target="../media/image39.svg"/><Relationship Id="rId17" Type="http://schemas.openxmlformats.org/officeDocument/2006/relationships/image" Target="../media/image38.png"/><Relationship Id="rId16" Type="http://schemas.openxmlformats.org/officeDocument/2006/relationships/image" Target="../media/image37.svg"/><Relationship Id="rId15" Type="http://schemas.openxmlformats.org/officeDocument/2006/relationships/image" Target="../media/image36.png"/><Relationship Id="rId14" Type="http://schemas.openxmlformats.org/officeDocument/2006/relationships/image" Target="../media/image35.svg"/><Relationship Id="rId13" Type="http://schemas.openxmlformats.org/officeDocument/2006/relationships/image" Target="../media/image34.png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image" Target="../media/image31.svg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tags" Target="../tags/tag51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58.xml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tags" Target="../tags/tag62.xml"/><Relationship Id="rId34" Type="http://schemas.openxmlformats.org/officeDocument/2006/relationships/notesSlide" Target="../notesSlides/notesSlide9.x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82.xml"/><Relationship Id="rId31" Type="http://schemas.openxmlformats.org/officeDocument/2006/relationships/tags" Target="../tags/tag81.xml"/><Relationship Id="rId30" Type="http://schemas.openxmlformats.org/officeDocument/2006/relationships/image" Target="../media/image55.svg"/><Relationship Id="rId3" Type="http://schemas.openxmlformats.org/officeDocument/2006/relationships/tags" Target="../tags/tag61.xml"/><Relationship Id="rId29" Type="http://schemas.openxmlformats.org/officeDocument/2006/relationships/image" Target="../media/image54.png"/><Relationship Id="rId28" Type="http://schemas.openxmlformats.org/officeDocument/2006/relationships/tags" Target="../tags/tag80.xml"/><Relationship Id="rId27" Type="http://schemas.openxmlformats.org/officeDocument/2006/relationships/tags" Target="../tags/tag79.xml"/><Relationship Id="rId26" Type="http://schemas.openxmlformats.org/officeDocument/2006/relationships/tags" Target="../tags/tag78.xml"/><Relationship Id="rId25" Type="http://schemas.openxmlformats.org/officeDocument/2006/relationships/tags" Target="../tags/tag77.xml"/><Relationship Id="rId24" Type="http://schemas.openxmlformats.org/officeDocument/2006/relationships/tags" Target="../tags/tag76.xml"/><Relationship Id="rId23" Type="http://schemas.openxmlformats.org/officeDocument/2006/relationships/tags" Target="../tags/tag75.xml"/><Relationship Id="rId22" Type="http://schemas.openxmlformats.org/officeDocument/2006/relationships/image" Target="../media/image53.svg"/><Relationship Id="rId21" Type="http://schemas.openxmlformats.org/officeDocument/2006/relationships/image" Target="../media/image52.png"/><Relationship Id="rId20" Type="http://schemas.openxmlformats.org/officeDocument/2006/relationships/tags" Target="../tags/tag74.xml"/><Relationship Id="rId2" Type="http://schemas.openxmlformats.org/officeDocument/2006/relationships/tags" Target="../tags/tag60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image" Target="../media/image51.svg"/><Relationship Id="rId13" Type="http://schemas.openxmlformats.org/officeDocument/2006/relationships/image" Target="../media/image50.png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4"/>
          <p:cNvSpPr/>
          <p:nvPr/>
        </p:nvSpPr>
        <p:spPr>
          <a:xfrm>
            <a:off x="1097280" y="4937760"/>
            <a:ext cx="56692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成员：</a:t>
            </a: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杨尚昕</a:t>
            </a:r>
            <a:r>
              <a:rPr lang="en-US" altLang="zh-CN"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高文宇</a:t>
            </a:r>
            <a:endParaRPr lang="zh-CN" altLang="en-US" sz="20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组名：</a:t>
            </a:r>
            <a:r>
              <a:rPr lang="en-US" sz="20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Deepsleep</a:t>
            </a:r>
            <a:endParaRPr lang="en-US" sz="20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时间：__________</a:t>
            </a:r>
            <a:endParaRPr lang="en-US" sz="2000" b="1" dirty="0">
              <a:solidFill>
                <a:srgbClr val="1A1A1A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7498080" y="4480560"/>
            <a:ext cx="4206240" cy="169164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E6EEF7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6"/>
          <p:cNvSpPr/>
          <p:nvPr/>
        </p:nvSpPr>
        <p:spPr>
          <a:xfrm>
            <a:off x="7818120" y="467487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0"/>
              </a:rPr>
              <a:t>关键词</a:t>
            </a:r>
            <a:endParaRPr lang="en-US" sz="2000" b="1" dirty="0">
              <a:solidFill>
                <a:srgbClr val="1F4E79"/>
              </a:solidFill>
              <a:latin typeface="楷体" panose="02010609060101010101" charset="-122"/>
              <a:ea typeface="楷体" panose="02010609060101010101" charset="-122"/>
              <a:cs typeface="微软雅黑" panose="020B0503020204020204" pitchFamily="34" charset="-12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818120" y="5100320"/>
            <a:ext cx="3566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Knowledge Graph  ·  Hypergraph</a:t>
            </a:r>
            <a:endParaRPr lang="en-US" sz="1600" b="1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Multi-Agent  ·  Evidence Trace</a:t>
            </a:r>
            <a:endParaRPr lang="en-US" sz="1600" b="1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LangGraph  ·  Rubric</a:t>
            </a:r>
            <a:endParaRPr lang="en-US" sz="1600" b="1" dirty="0">
              <a:solidFill>
                <a:srgbClr val="1A1A1A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822960" y="1826895"/>
            <a:ext cx="10789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fontAlgn="auto">
              <a:lnSpc>
                <a:spcPts val="6040"/>
              </a:lnSpc>
              <a:buNone/>
            </a:pP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0"/>
              </a:rPr>
              <a:t>基于知识图谱与超图推理的</a:t>
            </a:r>
            <a:endParaRPr lang="en-US" sz="4400" b="1" dirty="0">
              <a:solidFill>
                <a:schemeClr val="accent5">
                  <a:lumMod val="7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0" fontAlgn="auto">
              <a:lnSpc>
                <a:spcPts val="6040"/>
              </a:lnSpc>
              <a:buNone/>
            </a:pP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0"/>
              </a:rPr>
              <a:t>创新创业教学智能体——</a:t>
            </a:r>
            <a:r>
              <a:rPr lang="zh-CN" altLang="en-US" sz="4400" b="1" dirty="0">
                <a:solidFill>
                  <a:schemeClr val="accent5">
                    <a:lumMod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0"/>
              </a:rPr>
              <a:t>第一次迭代</a:t>
            </a:r>
            <a:endParaRPr lang="zh-CN" altLang="en-US" sz="4400" b="1" dirty="0">
              <a:solidFill>
                <a:schemeClr val="accent5">
                  <a:lumMod val="7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760" y="2031365"/>
            <a:ext cx="4801870" cy="5568950"/>
          </a:xfrm>
        </p:spPr>
        <p:txBody>
          <a:bodyPr rtlCol="0"/>
          <a:lstStyle/>
          <a:p>
            <a:pPr rtl="0"/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最小原型及功能展示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>
              <a:lnSpc>
                <a:spcPct val="130000"/>
              </a:lnSpc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仿宋_GBK" panose="03000509000000000000" charset="-122"/>
                <a:ea typeface="方正仿宋_GBK" panose="03000509000000000000" charset="-122"/>
                <a:cs typeface="方正仿宋_GBK" panose="03000509000000000000" charset="-122"/>
                <a:sym typeface="+mn-ea"/>
              </a:rPr>
              <a:t>前端简单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仿宋_GBK" panose="03000509000000000000" charset="-122"/>
                <a:ea typeface="方正仿宋_GBK" panose="03000509000000000000" charset="-122"/>
                <a:cs typeface="方正仿宋_GBK" panose="03000509000000000000" charset="-122"/>
                <a:sym typeface="+mn-ea"/>
              </a:rPr>
              <a:t>UI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仿宋_GBK" panose="03000509000000000000" charset="-122"/>
              <a:ea typeface="方正仿宋_GBK" panose="03000509000000000000" charset="-122"/>
              <a:cs typeface="方正仿宋_GBK" panose="03000509000000000000" charset="-122"/>
            </a:endParaRPr>
          </a:p>
          <a:p>
            <a:pPr lvl="0" rtl="0">
              <a:lnSpc>
                <a:spcPct val="130000"/>
              </a:lnSpc>
            </a:pP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仿宋_GBK" panose="03000509000000000000" charset="-122"/>
                <a:ea typeface="方正仿宋_GBK" panose="03000509000000000000" charset="-122"/>
                <a:cs typeface="方正仿宋_GBK" panose="03000509000000000000" charset="-122"/>
              </a:rPr>
              <a:t>离线抽取功能</a:t>
            </a:r>
            <a:b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仿宋_GBK" panose="03000509000000000000" charset="-122"/>
                <a:ea typeface="方正仿宋_GBK" panose="03000509000000000000" charset="-122"/>
                <a:cs typeface="方正仿宋_GBK" panose="03000509000000000000" charset="-122"/>
              </a:rPr>
            </a:b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仿宋_GBK" panose="03000509000000000000" charset="-122"/>
                <a:ea typeface="方正仿宋_GBK" panose="03000509000000000000" charset="-122"/>
                <a:cs typeface="方正仿宋_GBK" panose="03000509000000000000" charset="-122"/>
              </a:rPr>
              <a:t>逻辑一致性检验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仿宋_GBK" panose="03000509000000000000" charset="-122"/>
              <a:ea typeface="方正仿宋_GBK" panose="03000509000000000000" charset="-122"/>
              <a:cs typeface="方正仿宋_GBK" panose="03000509000000000000" charset="-122"/>
            </a:endParaRPr>
          </a:p>
          <a:p>
            <a:pPr lvl="0" rtl="0">
              <a:lnSpc>
                <a:spcPct val="130000"/>
              </a:lnSpc>
            </a:pP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方正仿宋_GBK" panose="03000509000000000000" charset="-122"/>
                <a:ea typeface="方正仿宋_GBK" panose="03000509000000000000" charset="-122"/>
                <a:cs typeface="方正仿宋_GBK" panose="03000509000000000000" charset="-122"/>
              </a:rPr>
              <a:t>进一步迭代方向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方正仿宋_GBK" panose="03000509000000000000" charset="-122"/>
              <a:ea typeface="方正仿宋_GBK" panose="03000509000000000000" charset="-122"/>
              <a:cs typeface="方正仿宋_GBK" panose="03000509000000000000" charset="-122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C18C1E5-FB55-42F5-BD6D-9CC153FCDBE6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前端简单</a:t>
            </a:r>
            <a:r>
              <a:rPr lang="en-US" altLang="zh-CN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UI</a:t>
            </a:r>
            <a:endParaRPr lang="en-US" altLang="zh-CN" sz="32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160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27178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chemeClr val="accent2"/>
                </a:solidFill>
              </a:rPr>
              <a:t>streamlit</a:t>
            </a:r>
            <a:r>
              <a:rPr lang="zh-CN" altLang="en-US" sz="1600">
                <a:solidFill>
                  <a:schemeClr val="accent2"/>
                </a:solidFill>
                <a:ea typeface="宋体" panose="02010600030101010101" pitchFamily="2" charset="-122"/>
              </a:rPr>
              <a:t>构筑前端架构</a:t>
            </a:r>
            <a:endParaRPr lang="zh-CN" altLang="en-US" sz="16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采用</a:t>
            </a:r>
            <a:r>
              <a:rPr lang="en-US" altLang="zh-CN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streamlit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来构造简单的看板，便于操作进行项目实行与检验。</a:t>
            </a:r>
            <a:endParaRPr lang="zh-CN" altLang="en-US" sz="14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34925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34925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37465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73500" y="2717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37465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阶段二：规则构建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37465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设计并实现一致性规则引擎，确保知识图谱数据的准确性与逻辑严密性。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62230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62230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4770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4000" y="27178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64770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阶段三：Agent集成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64770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集成多智能体系统，打通各个功能模块，实现端到端的智能交互能力。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9535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89535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92075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334500" y="27178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92075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阶段四：教学试点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92075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在真实教学场景中进行试点，收集用户反馈，持续迭代优化系统性能。</a:t>
            </a:r>
            <a:endParaRPr lang="en-US" sz="11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45510" y="958850"/>
            <a:ext cx="8614410" cy="5066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教师看板与案例</a:t>
            </a:r>
            <a:r>
              <a:rPr lang="en-US" altLang="zh-CN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OCR</a:t>
            </a:r>
            <a:endParaRPr lang="en-US" altLang="zh-CN" sz="32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1955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74800" y="19558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>
                <a:ea typeface="宋体" panose="02010600030101010101" pitchFamily="2" charset="-122"/>
              </a:rPr>
              <a:t>启动方式：本地运行</a:t>
            </a:r>
            <a:endParaRPr lang="zh-CN" altLang="en-US">
              <a:ea typeface="宋体" panose="02010600030101010101" pitchFamily="2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6215">
            <a:off x="1066815" y="24828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66800" y="2667000"/>
            <a:ext cx="2692400" cy="1414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 eaLnBrk="1" fontAlgn="t" latinLnBrk="0" hangingPunct="1">
              <a:lnSpc>
                <a:spcPct val="145000"/>
              </a:lnSpc>
              <a:buClr>
                <a:srgbClr val="4B5563"/>
              </a:buClr>
              <a:buChar char="•"/>
              <a:defRPr/>
            </a:pP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py -3.11 -m pip install -e .[test,ocr,ui]</a:t>
            </a:r>
            <a:endParaRPr lang="en-US" altLang="zh-CN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marL="177800" indent="-177800" algn="l" eaLnBrk="1" fontAlgn="t" latinLnBrk="0" hangingPunct="1">
              <a:lnSpc>
                <a:spcPct val="145000"/>
              </a:lnSpc>
              <a:buClr>
                <a:srgbClr val="4B5563"/>
              </a:buClr>
              <a:buChar char="•"/>
              <a:defRPr/>
            </a:pPr>
            <a:endParaRPr lang="en-US" altLang="zh-CN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marL="177800" indent="-177800" algn="l" eaLnBrk="1" fontAlgn="t" latinLnBrk="0" hangingPunct="1">
              <a:lnSpc>
                <a:spcPct val="145000"/>
              </a:lnSpc>
              <a:buClr>
                <a:srgbClr val="4B5563"/>
              </a:buClr>
              <a:buChar char="•"/>
              <a:defRPr/>
            </a:pP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py -3.11 -m streamlit run src/ui/streamlit_app.py</a:t>
            </a:r>
            <a:endParaRPr lang="en-US" altLang="zh-CN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49800" y="1955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5257800" y="19558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教师视角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3"/>
            </p:custDataLst>
          </p:nvPr>
        </p:nvCxnSpPr>
        <p:spPr>
          <a:xfrm rot="-16215">
            <a:off x="4749815" y="24828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4749800" y="2667000"/>
            <a:ext cx="2692400" cy="1388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3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批改大量报告负担沉重</a:t>
            </a:r>
            <a:endParaRPr lang="en-US" sz="1100"/>
          </a:p>
          <a:p>
            <a:pPr marL="177800" indent="-177800" algn="l">
              <a:lnSpc>
                <a:spcPct val="15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不同教师间评价标准不一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marL="177800" indent="-177800" algn="l">
              <a:lnSpc>
                <a:spcPct val="13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缺乏统一的评价量规(Rubric)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8128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32800" y="1955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8940800" y="19558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管理者视角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20"/>
            </p:custDataLst>
          </p:nvPr>
        </p:nvCxnSpPr>
        <p:spPr>
          <a:xfrm rot="-16215">
            <a:off x="8432815" y="24828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21"/>
            </p:custDataLst>
          </p:nvPr>
        </p:nvSpPr>
        <p:spPr>
          <a:xfrm>
            <a:off x="8432800" y="2667000"/>
            <a:ext cx="2692400" cy="1379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4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各项目间难以横向比较</a:t>
            </a:r>
            <a:endParaRPr lang="en-US" sz="1100"/>
          </a:p>
          <a:p>
            <a:pPr marL="177800" indent="-177800" algn="l">
              <a:lnSpc>
                <a:spcPct val="14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教学整体效果难以量化评估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marL="177800" indent="-177800" algn="l">
              <a:lnSpc>
                <a:spcPct val="14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缺乏数据支撑的决策依据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59480" y="2501900"/>
            <a:ext cx="7042150" cy="429069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09160" y="358775"/>
            <a:ext cx="7045325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3280" y="965200"/>
            <a:ext cx="10506075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离线抽取功能</a:t>
            </a: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：</a:t>
            </a:r>
            <a:endParaRPr lang="en-US" sz="32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32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把学生项目描述或案例 PDF 转成统一的结构化输入</a:t>
            </a:r>
            <a:endParaRPr lang="zh-CN" altLang="en-US" sz="32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843280" y="2910205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50000"/>
            </a:srgbClr>
          </a:solidFill>
          <a:ln cap="flat" cmpd="sng">
            <a:solidFill>
              <a:srgbClr val="C4CCD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3100705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605280" y="3100705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项目文本抽取</a:t>
            </a:r>
            <a:endParaRPr lang="en-US" sz="1800" b="1">
              <a:solidFill>
                <a:srgbClr val="1F29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6" name="Connector 6"/>
          <p:cNvCxnSpPr/>
          <p:nvPr>
            <p:custDataLst>
              <p:tags r:id="rId6"/>
            </p:custDataLst>
          </p:nvPr>
        </p:nvCxnSpPr>
        <p:spPr>
          <a:xfrm rot="-9549">
            <a:off x="1097289" y="3538855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97280" y="3672205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项目文本走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ProjectExtractor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，用规则和字段标签抽取出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ProjectState</a:t>
            </a:r>
            <a:endParaRPr lang="en-US" altLang="zh-CN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6361430" y="2910205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50000"/>
            </a:srgbClr>
          </a:solidFill>
          <a:ln cap="flat" cmpd="sng">
            <a:solidFill>
              <a:srgbClr val="C4CCD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5430" y="3100705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7123430" y="3100705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案例材料抽取</a:t>
            </a:r>
            <a:endParaRPr lang="en-US" sz="1800" b="1">
              <a:solidFill>
                <a:srgbClr val="1F29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13"/>
            </p:custDataLst>
          </p:nvPr>
        </p:nvCxnSpPr>
        <p:spPr>
          <a:xfrm rot="-9549">
            <a:off x="6615439" y="3538855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6615430" y="3672205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案例材料走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OCR ingest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，把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PDF 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按页渲染、抽文本、切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chunk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，并保存成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pages.jsonl 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和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chunks.jsonl</a:t>
            </a:r>
            <a:endParaRPr lang="en-US" altLang="zh-CN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8650" y="2032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离线</a:t>
            </a:r>
            <a:r>
              <a:rPr lang="en-US" altLang="zh-CN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OCR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展示</a:t>
            </a:r>
            <a:endParaRPr lang="zh-CN" altLang="en-US" sz="32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143500" cy="2921000"/>
          </a:xfrm>
          <a:prstGeom prst="roundRect">
            <a:avLst>
              <a:gd name="adj" fmla="val 4347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336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311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现有大模型可以做到的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629">
            <a:off x="1066809" y="27876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048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022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生成商业计划书，提供标准化文档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3429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403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提供通用性的创业建议与模拟问答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032000"/>
            <a:ext cx="5143500" cy="2921000"/>
          </a:xfrm>
          <a:prstGeom prst="roundRect">
            <a:avLst>
              <a:gd name="adj" fmla="val 4347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1300" y="2336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311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91C1C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但无法实现的核心能力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629">
            <a:off x="6591309" y="27876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1300" y="3048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022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无法进行创业项目的逻辑结构一致性校验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0" y="3429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3403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不能自动识别潜在的风险模式与漏洞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91300" y="3810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784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缺乏建议背后的可追溯证据链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91300" y="4191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4165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无法提供真正可执行的下一步任务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EF444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55118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39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我们需要的不是“更会聊天的机器人”，而是</a:t>
            </a:r>
            <a:r>
              <a:rPr lang="en-US" sz="1800" b="1" i="0" u="none" strike="noStrike">
                <a:solidFill>
                  <a:srgbClr val="EF444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具备创业逻辑推理能力的教学认知系统</a:t>
            </a:r>
            <a:endParaRPr lang="en-US" sz="110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1054735"/>
            <a:ext cx="10953750" cy="5668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逻辑一致性检验</a:t>
            </a:r>
            <a:endParaRPr lang="zh-CN" altLang="en-US" sz="32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抽取后的字段进入</a:t>
            </a:r>
            <a:r>
              <a:rPr lang="en-US" altLang="zh-CN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 RuleEngine </a:t>
            </a:r>
            <a:r>
              <a:rPr lang="zh-CN" alt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做一致性检查。</a:t>
            </a:r>
            <a:endParaRPr lang="zh-CN" altLang="en-US" sz="24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270000" y="3556000"/>
            <a:ext cx="3048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客户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-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价值</a:t>
            </a:r>
            <a:r>
              <a:rPr lang="en-US" altLang="zh-CN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-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渠道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匹配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3810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524000" y="4318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3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4572000" y="3556000"/>
            <a:ext cx="3048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6000" y="3810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826000" y="4064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0000"/>
              </a:lnSpc>
              <a:buSzTx/>
              <a:defRPr/>
            </a:pPr>
            <a:r>
              <a:rPr lang="zh-CN" altLang="en-US" sz="2400" b="1" i="0" u="none" strike="noStrike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华文中宋" panose="02010600040101010101" charset="-122"/>
              </a:rPr>
              <a:t>TAM/SAM/SOM 顺序</a:t>
            </a:r>
            <a:endParaRPr lang="zh-CN" altLang="en-US" sz="2400" b="1" i="0" u="none" strike="noStrike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华文中宋" panose="02010600040101010101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874000" y="3556000"/>
            <a:ext cx="3048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28000" y="3810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4064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0000"/>
              </a:lnSpc>
              <a:buSzTx/>
              <a:defRPr/>
            </a:pPr>
            <a:r>
              <a:rPr lang="zh-CN" altLang="en-US" sz="2400" b="1" i="0" u="none" strike="noStrike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华文中宋" panose="02010600040101010101" charset="-122"/>
              </a:rPr>
              <a:t>LTV/CAC 单位经济</a:t>
            </a:r>
            <a:endParaRPr lang="zh-CN" altLang="en-US" sz="2400" b="1" i="0" u="none" strike="noStrike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逻辑检验</a:t>
            </a:r>
            <a:endParaRPr lang="zh-CN" altLang="en-US" sz="32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简单展示</a:t>
            </a:r>
            <a:endParaRPr lang="en-US" altLang="zh-CN" sz="32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6840" y="752475"/>
            <a:ext cx="9152255" cy="5518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Next task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160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27178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330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一：Agent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架构落地</a:t>
            </a:r>
            <a:endParaRPr lang="en-US" altLang="zh-CN" sz="1800" b="1" i="0" u="none" strike="noStrike">
              <a:solidFill>
                <a:srgbClr val="1F29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跑通</a:t>
            </a:r>
            <a:r>
              <a:rPr lang="en-US" altLang="zh-CN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Agent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工作流，真正接入</a:t>
            </a:r>
            <a:r>
              <a:rPr lang="en-US" altLang="zh-CN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DeepseekApi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来增强</a:t>
            </a:r>
            <a:r>
              <a:rPr lang="en-US" altLang="zh-CN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NLP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与分析功能。</a:t>
            </a:r>
            <a:endParaRPr lang="zh-CN" altLang="en-US" sz="14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34925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34925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37465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73500" y="2717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37465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二：规则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完善</a:t>
            </a:r>
            <a:endParaRPr lang="zh-CN" altLang="en-US" sz="1800" b="1" i="0" u="none" strike="noStrike">
              <a:solidFill>
                <a:srgbClr val="1F29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37465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完善超图与一致性规则，应用优秀案例。</a:t>
            </a:r>
            <a:endParaRPr lang="en-US" altLang="zh-CN" sz="14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62230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62230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4770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04000" y="27178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64770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三：趋势研判</a:t>
            </a:r>
            <a:endParaRPr lang="en-US" sz="1800" b="1">
              <a:solidFill>
                <a:srgbClr val="1F29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64770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借助网络工具进行趋势研判，提出进一步建议</a:t>
            </a:r>
            <a:endParaRPr lang="zh-CN" altLang="en-US" sz="14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9535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89535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92075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334500" y="27178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92075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四：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流程优化</a:t>
            </a:r>
            <a:endParaRPr lang="zh-CN" altLang="en-US" sz="1800" b="1" i="0" u="none" strike="noStrike">
              <a:solidFill>
                <a:srgbClr val="1F29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92075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优化现有流程，进行下一步的简化或是进一步集成</a:t>
            </a:r>
            <a:endParaRPr lang="zh-CN" altLang="en-US" sz="14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sz="6000">
                <a:solidFill>
                  <a:schemeClr val="bg1"/>
                </a:solidFill>
              </a:rPr>
              <a:t>从书斋里走向应用落地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zh-CN" sz="3200">
                <a:solidFill>
                  <a:schemeClr val="bg1"/>
                </a:solidFill>
              </a:rPr>
              <a:t>谢谢大家！</a:t>
            </a:r>
            <a:endParaRPr lang="zh-CN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2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3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4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5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8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9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0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1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2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3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4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5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6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7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8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19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20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21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22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23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24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25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26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27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28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29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0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1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2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3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4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5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6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7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8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9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40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1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2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3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4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5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6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7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8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49.xml><?xml version="1.0" encoding="utf-8"?>
<p:tagLst xmlns:p="http://schemas.openxmlformats.org/presentationml/2006/main">
  <p:tag name="KSO_WM_DIAGRAM_VIRTUALLY_FRAME" val="{&quot;height&quot;:219.15,&quot;left&quot;:60,&quot;top&quot;:160,&quot;width&quot;:840.9}"/>
</p:tagLst>
</file>

<file path=ppt/tags/tag50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1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2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3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4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5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6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7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8.xml><?xml version="1.0" encoding="utf-8"?>
<p:tagLst xmlns:p="http://schemas.openxmlformats.org/presentationml/2006/main">
  <p:tag name="KSO_WM_DIAGRAM_VIRTUALLY_FRAME" val="{&quot;height&quot;:160,&quot;left&quot;:100,&quot;top&quot;:280,&quot;width&quot;:760}"/>
</p:tagLst>
</file>

<file path=ppt/tags/tag59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0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1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2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3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4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5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6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7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8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69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0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1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2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3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4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5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6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7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8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79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80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81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ags/tag82.xml><?xml version="1.0" encoding="utf-8"?>
<p:tagLst xmlns:p="http://schemas.openxmlformats.org/presentationml/2006/main">
  <p:tag name="KSO_WM_DIAGRAM_VIRTUALLY_FRAME" val="{&quot;height&quot;:260,&quot;left&quot;:60,&quot;top&quot;:180,&quot;width&quot;:84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83.xml><?xml version="1.0" encoding="utf-8"?>
<ds:datastoreItem xmlns:ds="http://schemas.openxmlformats.org/officeDocument/2006/customXml" ds:itemID="{DFA8DA88-2D67-4B30-8205-C52078711284}">
  <ds:schemaRefs/>
</ds:datastoreItem>
</file>

<file path=customXml/itemProps84.xml><?xml version="1.0" encoding="utf-8"?>
<ds:datastoreItem xmlns:ds="http://schemas.openxmlformats.org/officeDocument/2006/customXml" ds:itemID="{3D2896BB-5566-4403-84AA-2FD10D9622B9}">
  <ds:schemaRefs/>
</ds:datastoreItem>
</file>

<file path=customXml/itemProps85.xml><?xml version="1.0" encoding="utf-8"?>
<ds:datastoreItem xmlns:ds="http://schemas.openxmlformats.org/officeDocument/2006/customXml" ds:itemID="{9CFB608F-E2ED-4AA5-B472-3C2C89444FD9}">
  <ds:schemaRefs/>
</ds:datastoreItem>
</file>

<file path=customXml/itemProps86.xml><?xml version="1.0" encoding="utf-8"?>
<ds:datastoreItem xmlns:ds="http://schemas.openxmlformats.org/officeDocument/2006/customXml" ds:itemID="{DFA8DA88-2D67-4B30-8205-C52078711284}">
  <ds:schemaRefs/>
</ds:datastoreItem>
</file>

<file path=customXml/itemProps87.xml><?xml version="1.0" encoding="utf-8"?>
<ds:datastoreItem xmlns:ds="http://schemas.openxmlformats.org/officeDocument/2006/customXml" ds:itemID="{3D2896BB-5566-4403-84AA-2FD10D9622B9}">
  <ds:schemaRefs/>
</ds:datastoreItem>
</file>

<file path=customXml/itemProps88.xml><?xml version="1.0" encoding="utf-8"?>
<ds:datastoreItem xmlns:ds="http://schemas.openxmlformats.org/officeDocument/2006/customXml" ds:itemID="{9CFB608F-E2ED-4AA5-B472-3C2C89444FD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WPS 演示</Application>
  <PresentationFormat/>
  <Paragraphs>125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Arial</vt:lpstr>
      <vt:lpstr>楷体</vt:lpstr>
      <vt:lpstr>Times New Roman</vt:lpstr>
      <vt:lpstr>微软雅黑</vt:lpstr>
      <vt:lpstr>华文中宋</vt:lpstr>
      <vt:lpstr>微软雅黑</vt:lpstr>
      <vt:lpstr>Arial Unicode MS</vt:lpstr>
      <vt:lpstr>Microsoft YaHei UI</vt:lpstr>
      <vt:lpstr>汉仪中圆B5</vt:lpstr>
      <vt:lpstr>黑体</vt:lpstr>
      <vt:lpstr>隶书</vt:lpstr>
      <vt:lpstr>方正姚体</vt:lpstr>
      <vt:lpstr>方正仿宋_GBK</vt:lpstr>
      <vt:lpstr>新宋体</vt:lpstr>
      <vt:lpstr>Office 主题​​</vt:lpstr>
      <vt:lpstr>默认主题</vt:lpstr>
      <vt:lpstr>1_默认主题</vt:lpstr>
      <vt:lpstr>PowerPoint 演示文稿</vt:lpstr>
      <vt:lpstr>议程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开始一件事的方式是 不再动嘴而开始动手。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杨尚昕</cp:lastModifiedBy>
  <cp:revision>3</cp:revision>
  <dcterms:created xsi:type="dcterms:W3CDTF">2026-03-02T15:48:00Z</dcterms:created>
  <dcterms:modified xsi:type="dcterms:W3CDTF">2026-03-09T14:38:28Z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C8A9C86E58854475966C13E94B491D7C_13</vt:lpwstr>
  </property>
</Properties>
</file>